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3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4" r:id="rId21"/>
    <p:sldId id="273" r:id="rId22"/>
    <p:sldId id="275" r:id="rId23"/>
    <p:sldId id="276" r:id="rId24"/>
    <p:sldId id="277" r:id="rId25"/>
    <p:sldId id="278" r:id="rId26"/>
    <p:sldId id="279" r:id="rId27"/>
    <p:sldId id="280" r:id="rId28"/>
    <p:sldId id="281" r:id="rId29"/>
    <p:sldId id="282" r:id="rId30"/>
    <p:sldId id="283" r:id="rId31"/>
    <p:sldId id="285" r:id="rId32"/>
    <p:sldId id="284" r:id="rId33"/>
    <p:sldId id="286" r:id="rId34"/>
    <p:sldId id="287"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notesMaster" Target="notesMasters/notesMaster1.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E70B2-8BF9-45C0-BB95-33D1B9D3A854}" type="slidenum">
              <a:rPr lang="en-US" smtClean="0"/>
            </a:fld>
            <a:endParaRPr 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E70B2-8BF9-45C0-BB95-33D1B9D3A854}" type="slidenum">
              <a:rPr lang="en-US" smtClean="0"/>
            </a:fld>
            <a:endParaRPr 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9" Type="http://schemas.openxmlformats.org/officeDocument/2006/relationships/theme" Target="../theme/theme2.xml"/><Relationship Id="rId18" Type="http://schemas.openxmlformats.org/officeDocument/2006/relationships/tags" Target="../tags/tag124.xml"/><Relationship Id="rId17" Type="http://schemas.openxmlformats.org/officeDocument/2006/relationships/tags" Target="../tags/tag123.xml"/><Relationship Id="rId16" Type="http://schemas.openxmlformats.org/officeDocument/2006/relationships/tags" Target="../tags/tag122.xml"/><Relationship Id="rId15" Type="http://schemas.openxmlformats.org/officeDocument/2006/relationships/tags" Target="../tags/tag121.xml"/><Relationship Id="rId14" Type="http://schemas.openxmlformats.org/officeDocument/2006/relationships/tags" Target="../tags/tag120.xml"/><Relationship Id="rId13" Type="http://schemas.openxmlformats.org/officeDocument/2006/relationships/tags" Target="../tags/tag119.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8"/>
    </p:custData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27.xml"/><Relationship Id="rId3" Type="http://schemas.openxmlformats.org/officeDocument/2006/relationships/image" Target="../media/image1.png"/><Relationship Id="rId2" Type="http://schemas.openxmlformats.org/officeDocument/2006/relationships/tags" Target="../tags/tag126.xml"/><Relationship Id="rId1" Type="http://schemas.openxmlformats.org/officeDocument/2006/relationships/tags" Target="../tags/tag125.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30.xml"/><Relationship Id="rId3" Type="http://schemas.openxmlformats.org/officeDocument/2006/relationships/image" Target="../media/image1.png"/><Relationship Id="rId2" Type="http://schemas.openxmlformats.org/officeDocument/2006/relationships/tags" Target="../tags/tag129.xml"/><Relationship Id="rId1" Type="http://schemas.openxmlformats.org/officeDocument/2006/relationships/tags" Target="../tags/tag128.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133.xml"/><Relationship Id="rId3" Type="http://schemas.openxmlformats.org/officeDocument/2006/relationships/image" Target="../media/image1.png"/><Relationship Id="rId2" Type="http://schemas.openxmlformats.org/officeDocument/2006/relationships/tags" Target="../tags/tag132.xml"/><Relationship Id="rId1" Type="http://schemas.openxmlformats.org/officeDocument/2006/relationships/tags" Target="../tags/tag131.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136.xml"/><Relationship Id="rId3" Type="http://schemas.openxmlformats.org/officeDocument/2006/relationships/image" Target="../media/image2.png"/><Relationship Id="rId2" Type="http://schemas.openxmlformats.org/officeDocument/2006/relationships/tags" Target="../tags/tag135.xml"/><Relationship Id="rId1" Type="http://schemas.openxmlformats.org/officeDocument/2006/relationships/tags" Target="../tags/tag134.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139.xml"/><Relationship Id="rId3" Type="http://schemas.openxmlformats.org/officeDocument/2006/relationships/image" Target="../media/image3.png"/><Relationship Id="rId2" Type="http://schemas.openxmlformats.org/officeDocument/2006/relationships/tags" Target="../tags/tag138.xml"/><Relationship Id="rId1" Type="http://schemas.openxmlformats.org/officeDocument/2006/relationships/tags" Target="../tags/tag137.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142.xml"/><Relationship Id="rId3" Type="http://schemas.openxmlformats.org/officeDocument/2006/relationships/image" Target="../media/image1.png"/><Relationship Id="rId2" Type="http://schemas.openxmlformats.org/officeDocument/2006/relationships/tags" Target="../tags/tag141.xml"/><Relationship Id="rId1" Type="http://schemas.openxmlformats.org/officeDocument/2006/relationships/tags" Target="../tags/tag140.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145.xml"/><Relationship Id="rId3" Type="http://schemas.openxmlformats.org/officeDocument/2006/relationships/image" Target="../media/image1.png"/><Relationship Id="rId2" Type="http://schemas.openxmlformats.org/officeDocument/2006/relationships/tags" Target="../tags/tag144.xml"/><Relationship Id="rId1" Type="http://schemas.openxmlformats.org/officeDocument/2006/relationships/tags" Target="../tags/tag143.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148.xml"/><Relationship Id="rId3" Type="http://schemas.openxmlformats.org/officeDocument/2006/relationships/image" Target="../media/image1.png"/><Relationship Id="rId2" Type="http://schemas.openxmlformats.org/officeDocument/2006/relationships/tags" Target="../tags/tag147.xml"/><Relationship Id="rId1" Type="http://schemas.openxmlformats.org/officeDocument/2006/relationships/tags" Target="../tags/tag146.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4.xml"/><Relationship Id="rId5" Type="http://schemas.openxmlformats.org/officeDocument/2006/relationships/tags" Target="../tags/tag151.xml"/><Relationship Id="rId4" Type="http://schemas.openxmlformats.org/officeDocument/2006/relationships/image" Target="../media/image1.png"/><Relationship Id="rId3" Type="http://schemas.openxmlformats.org/officeDocument/2006/relationships/tags" Target="../tags/tag150.xml"/><Relationship Id="rId2" Type="http://schemas.openxmlformats.org/officeDocument/2006/relationships/image" Target="../media/image4.png"/><Relationship Id="rId1" Type="http://schemas.openxmlformats.org/officeDocument/2006/relationships/tags" Target="../tags/tag149.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154.xml"/><Relationship Id="rId3" Type="http://schemas.openxmlformats.org/officeDocument/2006/relationships/image" Target="../media/image1.png"/><Relationship Id="rId2" Type="http://schemas.openxmlformats.org/officeDocument/2006/relationships/tags" Target="../tags/tag153.xml"/><Relationship Id="rId1" Type="http://schemas.openxmlformats.org/officeDocument/2006/relationships/tags" Target="../tags/tag152.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157.xml"/><Relationship Id="rId3" Type="http://schemas.openxmlformats.org/officeDocument/2006/relationships/image" Target="../media/image1.png"/><Relationship Id="rId2" Type="http://schemas.openxmlformats.org/officeDocument/2006/relationships/tags" Target="../tags/tag156.xml"/><Relationship Id="rId1" Type="http://schemas.openxmlformats.org/officeDocument/2006/relationships/tags" Target="../tags/tag155.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14.xml"/><Relationship Id="rId5" Type="http://schemas.openxmlformats.org/officeDocument/2006/relationships/tags" Target="../tags/tag160.xml"/><Relationship Id="rId4" Type="http://schemas.openxmlformats.org/officeDocument/2006/relationships/image" Target="../media/image1.png"/><Relationship Id="rId3" Type="http://schemas.openxmlformats.org/officeDocument/2006/relationships/tags" Target="../tags/tag159.xml"/><Relationship Id="rId2" Type="http://schemas.openxmlformats.org/officeDocument/2006/relationships/image" Target="../media/image5.png"/><Relationship Id="rId1" Type="http://schemas.openxmlformats.org/officeDocument/2006/relationships/tags" Target="../tags/tag158.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163.xml"/><Relationship Id="rId3" Type="http://schemas.openxmlformats.org/officeDocument/2006/relationships/image" Target="../media/image1.png"/><Relationship Id="rId2" Type="http://schemas.openxmlformats.org/officeDocument/2006/relationships/tags" Target="../tags/tag162.xml"/><Relationship Id="rId1" Type="http://schemas.openxmlformats.org/officeDocument/2006/relationships/tags" Target="../tags/tag161.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166.xml"/><Relationship Id="rId3" Type="http://schemas.openxmlformats.org/officeDocument/2006/relationships/image" Target="../media/image1.png"/><Relationship Id="rId2" Type="http://schemas.openxmlformats.org/officeDocument/2006/relationships/tags" Target="../tags/tag165.xml"/><Relationship Id="rId1" Type="http://schemas.openxmlformats.org/officeDocument/2006/relationships/tags" Target="../tags/tag164.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169.xml"/><Relationship Id="rId3" Type="http://schemas.openxmlformats.org/officeDocument/2006/relationships/image" Target="../media/image1.png"/><Relationship Id="rId2" Type="http://schemas.openxmlformats.org/officeDocument/2006/relationships/tags" Target="../tags/tag168.xml"/><Relationship Id="rId1" Type="http://schemas.openxmlformats.org/officeDocument/2006/relationships/tags" Target="../tags/tag167.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172.xml"/><Relationship Id="rId3" Type="http://schemas.openxmlformats.org/officeDocument/2006/relationships/image" Target="../media/image1.png"/><Relationship Id="rId2" Type="http://schemas.openxmlformats.org/officeDocument/2006/relationships/tags" Target="../tags/tag171.xml"/><Relationship Id="rId1" Type="http://schemas.openxmlformats.org/officeDocument/2006/relationships/tags" Target="../tags/tag170.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175.xml"/><Relationship Id="rId3" Type="http://schemas.openxmlformats.org/officeDocument/2006/relationships/image" Target="../media/image1.png"/><Relationship Id="rId2" Type="http://schemas.openxmlformats.org/officeDocument/2006/relationships/tags" Target="../tags/tag174.xml"/><Relationship Id="rId1" Type="http://schemas.openxmlformats.org/officeDocument/2006/relationships/tags" Target="../tags/tag173.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14.xml"/><Relationship Id="rId6" Type="http://schemas.openxmlformats.org/officeDocument/2006/relationships/tags" Target="../tags/tag179.xml"/><Relationship Id="rId5" Type="http://schemas.openxmlformats.org/officeDocument/2006/relationships/image" Target="../media/image1.png"/><Relationship Id="rId4" Type="http://schemas.openxmlformats.org/officeDocument/2006/relationships/tags" Target="../tags/tag178.xml"/><Relationship Id="rId3" Type="http://schemas.openxmlformats.org/officeDocument/2006/relationships/image" Target="../media/image6.png"/><Relationship Id="rId2" Type="http://schemas.openxmlformats.org/officeDocument/2006/relationships/tags" Target="../tags/tag177.xml"/><Relationship Id="rId1" Type="http://schemas.openxmlformats.org/officeDocument/2006/relationships/tags" Target="../tags/tag176.xml"/></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182.xml"/><Relationship Id="rId3" Type="http://schemas.openxmlformats.org/officeDocument/2006/relationships/image" Target="../media/image1.png"/><Relationship Id="rId2" Type="http://schemas.openxmlformats.org/officeDocument/2006/relationships/tags" Target="../tags/tag181.xml"/><Relationship Id="rId1" Type="http://schemas.openxmlformats.org/officeDocument/2006/relationships/tags" Target="../tags/tag180.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185.xml"/><Relationship Id="rId3" Type="http://schemas.openxmlformats.org/officeDocument/2006/relationships/image" Target="../media/image1.png"/><Relationship Id="rId2" Type="http://schemas.openxmlformats.org/officeDocument/2006/relationships/tags" Target="../tags/tag184.xml"/><Relationship Id="rId1" Type="http://schemas.openxmlformats.org/officeDocument/2006/relationships/tags" Target="../tags/tag183.xml"/></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188.xml"/><Relationship Id="rId3" Type="http://schemas.openxmlformats.org/officeDocument/2006/relationships/image" Target="../media/image1.png"/><Relationship Id="rId2" Type="http://schemas.openxmlformats.org/officeDocument/2006/relationships/tags" Target="../tags/tag187.xml"/><Relationship Id="rId1" Type="http://schemas.openxmlformats.org/officeDocument/2006/relationships/tags" Target="../tags/tag186.xml"/></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191.xml"/><Relationship Id="rId3" Type="http://schemas.openxmlformats.org/officeDocument/2006/relationships/image" Target="../media/image1.png"/><Relationship Id="rId2" Type="http://schemas.openxmlformats.org/officeDocument/2006/relationships/tags" Target="../tags/tag190.xml"/><Relationship Id="rId1" Type="http://schemas.openxmlformats.org/officeDocument/2006/relationships/tags" Target="../tags/tag189.xml"/></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14.xml"/><Relationship Id="rId6" Type="http://schemas.openxmlformats.org/officeDocument/2006/relationships/tags" Target="../tags/tag195.xml"/><Relationship Id="rId5" Type="http://schemas.openxmlformats.org/officeDocument/2006/relationships/image" Target="../media/image1.png"/><Relationship Id="rId4" Type="http://schemas.openxmlformats.org/officeDocument/2006/relationships/tags" Target="../tags/tag194.xml"/><Relationship Id="rId3" Type="http://schemas.openxmlformats.org/officeDocument/2006/relationships/image" Target="../media/image7.png"/><Relationship Id="rId2" Type="http://schemas.openxmlformats.org/officeDocument/2006/relationships/tags" Target="../tags/tag193.xml"/><Relationship Id="rId1" Type="http://schemas.openxmlformats.org/officeDocument/2006/relationships/tags" Target="../tags/tag192.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198.xml"/><Relationship Id="rId3" Type="http://schemas.openxmlformats.org/officeDocument/2006/relationships/image" Target="../media/image1.png"/><Relationship Id="rId2" Type="http://schemas.openxmlformats.org/officeDocument/2006/relationships/tags" Target="../tags/tag197.xml"/><Relationship Id="rId1" Type="http://schemas.openxmlformats.org/officeDocument/2006/relationships/tags" Target="../tags/tag196.xml"/></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01.xml"/><Relationship Id="rId3" Type="http://schemas.openxmlformats.org/officeDocument/2006/relationships/image" Target="../media/image1.png"/><Relationship Id="rId2" Type="http://schemas.openxmlformats.org/officeDocument/2006/relationships/tags" Target="../tags/tag200.xml"/><Relationship Id="rId1" Type="http://schemas.openxmlformats.org/officeDocument/2006/relationships/tags" Target="../tags/tag199.xml"/></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04.xml"/><Relationship Id="rId3" Type="http://schemas.openxmlformats.org/officeDocument/2006/relationships/image" Target="../media/image1.png"/><Relationship Id="rId2" Type="http://schemas.openxmlformats.org/officeDocument/2006/relationships/tags" Target="../tags/tag203.xml"/><Relationship Id="rId1" Type="http://schemas.openxmlformats.org/officeDocument/2006/relationships/tags" Target="../tags/tag202.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07.xml"/><Relationship Id="rId3" Type="http://schemas.openxmlformats.org/officeDocument/2006/relationships/image" Target="../media/image1.png"/><Relationship Id="rId2" Type="http://schemas.openxmlformats.org/officeDocument/2006/relationships/tags" Target="../tags/tag206.xml"/><Relationship Id="rId1" Type="http://schemas.openxmlformats.org/officeDocument/2006/relationships/tags" Target="../tags/tag205.xml"/></Relationships>
</file>

<file path=ppt/slides/_rels/slide28.xml.rels><?xml version="1.0" encoding="UTF-8" standalone="yes"?>
<Relationships xmlns="http://schemas.openxmlformats.org/package/2006/relationships"><Relationship Id="rId7" Type="http://schemas.openxmlformats.org/officeDocument/2006/relationships/slideLayout" Target="../slideLayouts/slideLayout14.xml"/><Relationship Id="rId6" Type="http://schemas.openxmlformats.org/officeDocument/2006/relationships/tags" Target="../tags/tag211.xml"/><Relationship Id="rId5" Type="http://schemas.openxmlformats.org/officeDocument/2006/relationships/image" Target="../media/image1.png"/><Relationship Id="rId4" Type="http://schemas.openxmlformats.org/officeDocument/2006/relationships/tags" Target="../tags/tag210.xml"/><Relationship Id="rId3" Type="http://schemas.openxmlformats.org/officeDocument/2006/relationships/image" Target="../media/image8.png"/><Relationship Id="rId2" Type="http://schemas.openxmlformats.org/officeDocument/2006/relationships/tags" Target="../tags/tag209.xml"/><Relationship Id="rId1" Type="http://schemas.openxmlformats.org/officeDocument/2006/relationships/tags" Target="../tags/tag208.xml"/></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14.xml"/><Relationship Id="rId3" Type="http://schemas.openxmlformats.org/officeDocument/2006/relationships/image" Target="../media/image1.png"/><Relationship Id="rId2" Type="http://schemas.openxmlformats.org/officeDocument/2006/relationships/tags" Target="../tags/tag213.xml"/><Relationship Id="rId1" Type="http://schemas.openxmlformats.org/officeDocument/2006/relationships/tags" Target="../tags/tag212.xml"/></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17.xml"/><Relationship Id="rId3" Type="http://schemas.openxmlformats.org/officeDocument/2006/relationships/image" Target="../media/image1.png"/><Relationship Id="rId2" Type="http://schemas.openxmlformats.org/officeDocument/2006/relationships/tags" Target="../tags/tag216.xml"/><Relationship Id="rId1" Type="http://schemas.openxmlformats.org/officeDocument/2006/relationships/tags" Target="../tags/tag215.xm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20.xml"/><Relationship Id="rId3" Type="http://schemas.openxmlformats.org/officeDocument/2006/relationships/image" Target="../media/image1.png"/><Relationship Id="rId2" Type="http://schemas.openxmlformats.org/officeDocument/2006/relationships/tags" Target="../tags/tag219.xml"/><Relationship Id="rId1" Type="http://schemas.openxmlformats.org/officeDocument/2006/relationships/tags" Target="../tags/tag218.xml"/></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23.xml"/><Relationship Id="rId3" Type="http://schemas.openxmlformats.org/officeDocument/2006/relationships/image" Target="../media/image1.png"/><Relationship Id="rId2" Type="http://schemas.openxmlformats.org/officeDocument/2006/relationships/tags" Target="../tags/tag222.xml"/><Relationship Id="rId1" Type="http://schemas.openxmlformats.org/officeDocument/2006/relationships/tags" Target="../tags/tag2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p>
            <a:r>
              <a:rPr lang="en-US">
                <a:gradFill>
                  <a:gsLst>
                    <a:gs pos="50000">
                      <a:schemeClr val="accent1"/>
                    </a:gs>
                    <a:gs pos="0">
                      <a:schemeClr val="accent1">
                        <a:lumMod val="25000"/>
                        <a:lumOff val="75000"/>
                      </a:schemeClr>
                    </a:gs>
                    <a:gs pos="100000">
                      <a:schemeClr val="accent1">
                        <a:lumMod val="85000"/>
                      </a:schemeClr>
                    </a:gs>
                  </a:gsLst>
                  <a:lin ang="5400000" scaled="1"/>
                </a:gradFill>
              </a:rPr>
              <a:t>Snowflake</a:t>
            </a:r>
            <a:endParaRPr lang="en-US">
              <a:gradFill>
                <a:gsLst>
                  <a:gs pos="50000">
                    <a:schemeClr val="accent1"/>
                  </a:gs>
                  <a:gs pos="0">
                    <a:schemeClr val="accent1">
                      <a:lumMod val="25000"/>
                      <a:lumOff val="75000"/>
                    </a:schemeClr>
                  </a:gs>
                  <a:gs pos="100000">
                    <a:schemeClr val="accent1">
                      <a:lumMod val="85000"/>
                    </a:schemeClr>
                  </a:gs>
                </a:gsLst>
                <a:lin ang="5400000" scaled="1"/>
              </a:gradFill>
            </a:endParaRPr>
          </a:p>
        </p:txBody>
      </p:sp>
      <p:sp>
        <p:nvSpPr>
          <p:cNvPr id="3" name="Subtitle 2"/>
          <p:cNvSpPr>
            <a:spLocks noGrp="1"/>
          </p:cNvSpPr>
          <p:nvPr>
            <p:ph type="subTitle" idx="1"/>
            <p:custDataLst>
              <p:tags r:id="rId2"/>
            </p:custDataLst>
          </p:nvPr>
        </p:nvSpPr>
        <p:spPr/>
        <p:txBody>
          <a:bodyPr/>
          <a:p>
            <a:r>
              <a:rPr lang="en-US"/>
              <a:t>Overview of Key Innovations</a:t>
            </a:r>
            <a:endParaRPr lang="en-US"/>
          </a:p>
        </p:txBody>
      </p:sp>
      <p:pic>
        <p:nvPicPr>
          <p:cNvPr id="4" name="Picture 3"/>
          <p:cNvPicPr>
            <a:picLocks noChangeAspect="1"/>
          </p:cNvPicPr>
          <p:nvPr/>
        </p:nvPicPr>
        <p:blipFill>
          <a:blip r:embed="rId3"/>
          <a:stretch>
            <a:fillRect/>
          </a:stretch>
        </p:blipFill>
        <p:spPr>
          <a:xfrm>
            <a:off x="9516745" y="5337810"/>
            <a:ext cx="2042160" cy="1127760"/>
          </a:xfrm>
          <a:prstGeom prst="rect">
            <a:avLst/>
          </a:prstGeom>
        </p:spPr>
      </p:pic>
      <p:sp>
        <p:nvSpPr>
          <p:cNvPr id="5" name="Slide Number Placeholder 4"/>
          <p:cNvSpPr>
            <a:spLocks noGrp="1"/>
          </p:cNvSpPr>
          <p:nvPr>
            <p:ph type="sldNum" sz="quarter" idx="12"/>
          </p:nvPr>
        </p:nvSpPr>
        <p:spPr/>
        <p:txBody>
          <a:bodyPr/>
          <a:p>
            <a:fld id="{49AE70B2-8BF9-45C0-BB95-33D1B9D3A854}" type="slidenum">
              <a:rPr lang="en-US" smtClean="0"/>
            </a:fld>
            <a:endParaRPr lang="en-US" dirty="0"/>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Core Architectural Innovations</a:t>
            </a:r>
            <a:endParaRPr lang="en-US" altLang="en-US">
              <a:solidFill>
                <a:schemeClr val="accent1">
                  <a:lumMod val="75000"/>
                </a:schemeClr>
              </a:solidFill>
            </a:endParaRPr>
          </a:p>
        </p:txBody>
      </p:sp>
      <p:sp>
        <p:nvSpPr>
          <p:cNvPr id="5" name="Text Box 4"/>
          <p:cNvSpPr txBox="1"/>
          <p:nvPr/>
        </p:nvSpPr>
        <p:spPr>
          <a:xfrm>
            <a:off x="868680" y="1930400"/>
            <a:ext cx="10292080" cy="2861310"/>
          </a:xfrm>
          <a:prstGeom prst="rect">
            <a:avLst/>
          </a:prstGeom>
          <a:noFill/>
        </p:spPr>
        <p:txBody>
          <a:bodyPr wrap="square" rtlCol="0">
            <a:spAutoFit/>
          </a:bodyPr>
          <a:p>
            <a:r>
              <a:rPr lang="en-US" altLang="en-US">
                <a:gradFill>
                  <a:gsLst>
                    <a:gs pos="50000">
                      <a:schemeClr val="accent1"/>
                    </a:gs>
                    <a:gs pos="0">
                      <a:schemeClr val="accent1">
                        <a:lumMod val="25000"/>
                        <a:lumOff val="75000"/>
                      </a:schemeClr>
                    </a:gs>
                    <a:gs pos="100000">
                      <a:schemeClr val="accent1">
                        <a:lumMod val="85000"/>
                      </a:schemeClr>
                    </a:gs>
                  </a:gsLst>
                  <a:lin ang="5400000" scaled="1"/>
                </a:gradFill>
              </a:rPr>
              <a:t>Separation of Storage &amp; Compute</a:t>
            </a:r>
            <a:endParaRPr lang="en-US" altLang="en-US">
              <a:gradFill>
                <a:gsLst>
                  <a:gs pos="50000">
                    <a:schemeClr val="accent1"/>
                  </a:gs>
                  <a:gs pos="0">
                    <a:schemeClr val="accent1">
                      <a:lumMod val="25000"/>
                      <a:lumOff val="75000"/>
                    </a:schemeClr>
                  </a:gs>
                  <a:gs pos="100000">
                    <a:schemeClr val="accent1">
                      <a:lumMod val="85000"/>
                    </a:schemeClr>
                  </a:gs>
                </a:gsLst>
                <a:lin ang="5400000" scaled="1"/>
              </a:gradFill>
            </a:endParaRPr>
          </a:p>
          <a:p>
            <a:endParaRPr lang="en-US" altLang="en-US"/>
          </a:p>
          <a:p>
            <a:pPr marL="285750" indent="-285750">
              <a:buFont typeface="Arial" panose="020B0604020202020204" pitchFamily="34" charset="0"/>
              <a:buChar char="•"/>
            </a:pPr>
            <a:r>
              <a:rPr lang="en-US" altLang="en-US"/>
              <a:t>Snowflake's unique multi-cluster shared data architecture separates storage from compute, allowing enterprises to scale resources independently while maintaining a single, secure source of truth. </a:t>
            </a:r>
            <a:endParaRPr lang="en-US" altLang="en-US"/>
          </a:p>
          <a:p>
            <a:pPr marL="285750" indent="-285750">
              <a:buFont typeface="Arial" panose="020B0604020202020204" pitchFamily="34" charset="0"/>
              <a:buChar char="•"/>
            </a:pPr>
            <a:r>
              <a:rPr lang="en-US" altLang="en-US"/>
              <a:t>Unlike legacy databases where you pay for a bundled package of disk space and CPU power, Snowflake lets you scale these independently — if you have petabytes of data but only run occasional queries, </a:t>
            </a:r>
            <a:endParaRPr lang="en-US" altLang="en-US"/>
          </a:p>
          <a:p>
            <a:pPr marL="285750" indent="-285750">
              <a:buFont typeface="Arial" panose="020B0604020202020204" pitchFamily="34" charset="0"/>
              <a:buChar char="•"/>
            </a:pPr>
            <a:r>
              <a:rPr lang="en-US" altLang="en-US"/>
              <a:t>You pay only for the storage and the specific seconds your queries are active</a:t>
            </a:r>
            <a:endParaRPr lang="en-US" altLang="en-US"/>
          </a:p>
          <a:p>
            <a:pPr marL="285750" indent="-285750">
              <a:buFont typeface="Arial" panose="020B0604020202020204" pitchFamily="34" charset="0"/>
              <a:buChar char="•"/>
            </a:pPr>
            <a:r>
              <a:rPr lang="en-US" altLang="en-US"/>
              <a:t>Elastic Compute &amp; Storage</a:t>
            </a:r>
            <a:endParaRPr lang="en-US" altLang="en-US"/>
          </a:p>
        </p:txBody>
      </p:sp>
      <p:sp>
        <p:nvSpPr>
          <p:cNvPr id="6" name="Slide Number Placeholder 5"/>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2"/>
            </p:custDataLst>
          </p:nvPr>
        </p:nvPicPr>
        <p:blipFill>
          <a:blip r:embed="rId3"/>
          <a:srcRect t="10715" b="10715"/>
          <a:stretch>
            <a:fillRect/>
          </a:stretch>
        </p:blipFill>
        <p:spPr>
          <a:xfrm>
            <a:off x="9044940" y="5408295"/>
            <a:ext cx="2532380" cy="1098550"/>
          </a:xfrm>
        </p:spPr>
      </p:pic>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Core Architectural Innovations</a:t>
            </a:r>
            <a:endParaRPr lang="en-US" altLang="en-US">
              <a:solidFill>
                <a:schemeClr val="accent1">
                  <a:lumMod val="75000"/>
                </a:schemeClr>
              </a:solidFill>
            </a:endParaRPr>
          </a:p>
        </p:txBody>
      </p:sp>
      <p:sp>
        <p:nvSpPr>
          <p:cNvPr id="5" name="Text Box 4"/>
          <p:cNvSpPr txBox="1"/>
          <p:nvPr/>
        </p:nvSpPr>
        <p:spPr>
          <a:xfrm>
            <a:off x="868680" y="1930400"/>
            <a:ext cx="10292080" cy="3969385"/>
          </a:xfrm>
          <a:prstGeom prst="rect">
            <a:avLst/>
          </a:prstGeom>
          <a:noFill/>
        </p:spPr>
        <p:txBody>
          <a:bodyPr wrap="square" rtlCol="0">
            <a:spAutoFit/>
          </a:bodyPr>
          <a:p>
            <a:r>
              <a:rPr lang="en-US" altLang="en-US">
                <a:solidFill>
                  <a:schemeClr val="accent1">
                    <a:lumMod val="75000"/>
                  </a:schemeClr>
                </a:solidFill>
              </a:rPr>
              <a:t>Zero-Copy Cloning</a:t>
            </a:r>
            <a:endParaRPr lang="en-US" altLang="en-US">
              <a:solidFill>
                <a:schemeClr val="accent1">
                  <a:lumMod val="75000"/>
                </a:schemeClr>
              </a:solidFill>
            </a:endParaRPr>
          </a:p>
          <a:p>
            <a:endParaRPr lang="en-US" altLang="en-US">
              <a:solidFill>
                <a:schemeClr val="accent1">
                  <a:lumMod val="75000"/>
                </a:schemeClr>
              </a:solidFill>
            </a:endParaRPr>
          </a:p>
          <a:p>
            <a:pPr marL="285750" indent="-285750">
              <a:buFont typeface="Arial" panose="020B0604020202020204" pitchFamily="34" charset="0"/>
              <a:buChar char="•"/>
            </a:pPr>
            <a:r>
              <a:rPr lang="en-US" altLang="en-US"/>
              <a:t>You can create an identical copy of a multi-terabyte database in seconds without actually duplicating the data or incurring additional storage costs </a:t>
            </a:r>
            <a:endParaRPr lang="en-US" altLang="en-US"/>
          </a:p>
          <a:p>
            <a:pPr marL="285750" indent="-285750">
              <a:buFont typeface="Arial" panose="020B0604020202020204" pitchFamily="34" charset="0"/>
              <a:buChar char="•"/>
            </a:pPr>
            <a:r>
              <a:rPr lang="en-US" altLang="en-US"/>
              <a:t>A game-changer for DevOps and data engineering that allows for rapid testing and development in isolated environments.</a:t>
            </a:r>
            <a:endParaRPr lang="en-US" altLang="en-US"/>
          </a:p>
          <a:p>
            <a:pPr marL="285750" indent="-285750">
              <a:buFont typeface="Arial" panose="020B0604020202020204" pitchFamily="34" charset="0"/>
              <a:buChar char="•"/>
            </a:pPr>
            <a:endParaRPr lang="en-US" altLang="en-US"/>
          </a:p>
          <a:p>
            <a:pPr indent="0">
              <a:buFont typeface="Arial" panose="020B0604020202020204" pitchFamily="34" charset="0"/>
              <a:buNone/>
            </a:pPr>
            <a:r>
              <a:rPr lang="en-US" altLang="en-US">
                <a:solidFill>
                  <a:schemeClr val="accent1">
                    <a:lumMod val="75000"/>
                  </a:schemeClr>
                </a:solidFill>
              </a:rPr>
              <a:t>Multi-Cloud Support</a:t>
            </a:r>
            <a:endParaRPr lang="en-US" altLang="en-US">
              <a:solidFill>
                <a:schemeClr val="accent1">
                  <a:lumMod val="75000"/>
                </a:schemeClr>
              </a:solidFill>
            </a:endParaRPr>
          </a:p>
          <a:p>
            <a:pPr indent="0">
              <a:buFont typeface="Arial" panose="020B0604020202020204" pitchFamily="34" charset="0"/>
              <a:buNone/>
            </a:pPr>
            <a:endParaRPr lang="en-US" altLang="en-US"/>
          </a:p>
          <a:p>
            <a:pPr marL="285750" indent="-285750">
              <a:buFont typeface="Arial" panose="020B0604020202020204" pitchFamily="34" charset="0"/>
              <a:buChar char="•"/>
            </a:pPr>
            <a:r>
              <a:rPr lang="en-US" altLang="en-US"/>
              <a:t>Snowflake runs natively on </a:t>
            </a:r>
            <a:endParaRPr lang="en-US" altLang="en-US"/>
          </a:p>
          <a:p>
            <a:pPr marL="285750" indent="-285750">
              <a:buFont typeface="Arial" panose="020B0604020202020204" pitchFamily="34" charset="0"/>
              <a:buChar char="•"/>
            </a:pPr>
            <a:r>
              <a:rPr lang="en-US" altLang="en-US"/>
              <a:t>AWS</a:t>
            </a:r>
            <a:endParaRPr lang="en-US" altLang="en-US"/>
          </a:p>
          <a:p>
            <a:pPr marL="285750" indent="-285750">
              <a:buFont typeface="Arial" panose="020B0604020202020204" pitchFamily="34" charset="0"/>
              <a:buChar char="•"/>
            </a:pPr>
            <a:r>
              <a:rPr lang="en-US" altLang="en-US"/>
              <a:t>Azure</a:t>
            </a:r>
            <a:endParaRPr lang="en-US" altLang="en-US"/>
          </a:p>
          <a:p>
            <a:pPr marL="285750" indent="-285750">
              <a:buFont typeface="Arial" panose="020B0604020202020204" pitchFamily="34" charset="0"/>
              <a:buChar char="•"/>
            </a:pPr>
            <a:r>
              <a:rPr lang="en-US" altLang="en-US"/>
              <a:t>Google Cloud</a:t>
            </a:r>
            <a:endParaRPr lang="en-US" altLang="en-US"/>
          </a:p>
          <a:p>
            <a:pPr marL="285750" indent="-285750">
              <a:buFont typeface="Arial" panose="020B0604020202020204" pitchFamily="34" charset="0"/>
              <a:buChar char="•"/>
            </a:pPr>
            <a:r>
              <a:rPr lang="en-US" altLang="en-US"/>
              <a:t>Enabling cross-cloud interoperability without vendor lock-in.</a:t>
            </a:r>
            <a:endParaRPr lang="en-US" altLang="en-US"/>
          </a:p>
        </p:txBody>
      </p:sp>
      <p:sp>
        <p:nvSpPr>
          <p:cNvPr id="2" name="Slide Number Placeholder 1"/>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2"/>
            </p:custDataLst>
          </p:nvPr>
        </p:nvPicPr>
        <p:blipFill>
          <a:blip r:embed="rId3"/>
          <a:srcRect t="10715" b="10715"/>
          <a:stretch>
            <a:fillRect/>
          </a:stretch>
        </p:blipFill>
        <p:spPr>
          <a:xfrm>
            <a:off x="9044940" y="5408295"/>
            <a:ext cx="2532380" cy="1098550"/>
          </a:xfrm>
        </p:spPr>
      </p:pic>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Core Architectural Innovations</a:t>
            </a:r>
            <a:endParaRPr lang="en-US" altLang="en-US">
              <a:solidFill>
                <a:schemeClr val="accent1">
                  <a:lumMod val="75000"/>
                </a:schemeClr>
              </a:solidFill>
            </a:endParaRPr>
          </a:p>
        </p:txBody>
      </p:sp>
      <p:sp>
        <p:nvSpPr>
          <p:cNvPr id="5" name="Text Box 4"/>
          <p:cNvSpPr txBox="1"/>
          <p:nvPr/>
        </p:nvSpPr>
        <p:spPr>
          <a:xfrm>
            <a:off x="868680" y="1930400"/>
            <a:ext cx="10934700" cy="2030095"/>
          </a:xfrm>
          <a:prstGeom prst="rect">
            <a:avLst/>
          </a:prstGeom>
          <a:noFill/>
        </p:spPr>
        <p:txBody>
          <a:bodyPr wrap="square" rtlCol="0">
            <a:spAutoFit/>
          </a:bodyPr>
          <a:p>
            <a:pPr indent="0">
              <a:buFont typeface="Arial" panose="020B0604020202020204" pitchFamily="34" charset="0"/>
              <a:buNone/>
            </a:pPr>
            <a:r>
              <a:rPr lang="en-US" altLang="en-US">
                <a:solidFill>
                  <a:schemeClr val="accent1">
                    <a:lumMod val="75000"/>
                  </a:schemeClr>
                </a:solidFill>
              </a:rPr>
              <a:t>Time Travel</a:t>
            </a:r>
            <a:endParaRPr lang="en-US" altLang="en-US">
              <a:solidFill>
                <a:schemeClr val="accent1">
                  <a:lumMod val="75000"/>
                </a:schemeClr>
              </a:solidFill>
            </a:endParaRPr>
          </a:p>
          <a:p>
            <a:pPr marL="285750" indent="-285750">
              <a:buFont typeface="Arial" panose="020B0604020202020204" pitchFamily="34" charset="0"/>
              <a:buChar char="•"/>
            </a:pPr>
            <a:r>
              <a:rPr lang="en-US" altLang="en-US"/>
              <a:t>Snowflake Time Travel enables accessing historical data (data that has been changed or deleted) at any point within a defined period.</a:t>
            </a:r>
            <a:endParaRPr lang="en-US" altLang="en-US"/>
          </a:p>
          <a:p>
            <a:pPr marL="285750" indent="-285750">
              <a:buFont typeface="Arial" panose="020B0604020202020204" pitchFamily="34" charset="0"/>
              <a:buChar char="•"/>
            </a:pPr>
            <a:r>
              <a:rPr lang="en-US" altLang="en-US"/>
              <a:t>Restoring objects that might have been accidentally or intentionally deleted. You can restore individual objects, such as tables, or restore all the objects inside a container object by restoring an entire schema or database.</a:t>
            </a:r>
            <a:endParaRPr lang="en-US" altLang="en-US"/>
          </a:p>
          <a:p>
            <a:pPr indent="0">
              <a:buFont typeface="Arial" panose="020B0604020202020204" pitchFamily="34" charset="0"/>
              <a:buNone/>
            </a:pPr>
            <a:endParaRPr lang="en-US" altLang="en-US"/>
          </a:p>
        </p:txBody>
      </p:sp>
      <p:sp>
        <p:nvSpPr>
          <p:cNvPr id="6" name="Text Box 5"/>
          <p:cNvSpPr txBox="1"/>
          <p:nvPr/>
        </p:nvSpPr>
        <p:spPr>
          <a:xfrm>
            <a:off x="7736205" y="1502410"/>
            <a:ext cx="3738245" cy="368300"/>
          </a:xfrm>
          <a:prstGeom prst="rect">
            <a:avLst/>
          </a:prstGeom>
          <a:noFill/>
        </p:spPr>
        <p:txBody>
          <a:bodyPr wrap="square" rtlCol="0">
            <a:spAutoFit/>
          </a:bodyPr>
          <a:p>
            <a:endParaRPr lang="en-US"/>
          </a:p>
        </p:txBody>
      </p:sp>
      <p:pic>
        <p:nvPicPr>
          <p:cNvPr id="10" name="Content Placeholder 9"/>
          <p:cNvPicPr>
            <a:picLocks noChangeAspect="1"/>
          </p:cNvPicPr>
          <p:nvPr>
            <p:ph idx="1"/>
            <p:custDataLst>
              <p:tags r:id="rId2"/>
            </p:custDataLst>
          </p:nvPr>
        </p:nvPicPr>
        <p:blipFill>
          <a:blip r:embed="rId3"/>
          <a:stretch>
            <a:fillRect/>
          </a:stretch>
        </p:blipFill>
        <p:spPr>
          <a:xfrm>
            <a:off x="6037580" y="3633470"/>
            <a:ext cx="5654040" cy="2087880"/>
          </a:xfrm>
          <a:prstGeom prst="rect">
            <a:avLst/>
          </a:prstGeom>
        </p:spPr>
      </p:pic>
      <p:sp>
        <p:nvSpPr>
          <p:cNvPr id="11" name="Text Box 10"/>
          <p:cNvSpPr txBox="1"/>
          <p:nvPr/>
        </p:nvSpPr>
        <p:spPr>
          <a:xfrm>
            <a:off x="977265" y="4318000"/>
            <a:ext cx="4759325" cy="1753235"/>
          </a:xfrm>
          <a:prstGeom prst="rect">
            <a:avLst/>
          </a:prstGeom>
          <a:noFill/>
        </p:spPr>
        <p:txBody>
          <a:bodyPr wrap="square" rtlCol="0">
            <a:spAutoFit/>
          </a:bodyPr>
          <a:p>
            <a:pPr marL="285750" indent="-285750">
              <a:buFont typeface="Arial" panose="020B0604020202020204" pitchFamily="34" charset="0"/>
              <a:buChar char="•"/>
            </a:pPr>
            <a:r>
              <a:rPr lang="en-US" altLang="en-US">
                <a:sym typeface="+mn-ea"/>
              </a:rPr>
              <a:t>Duplicating and backing up data from key points in the past.</a:t>
            </a:r>
            <a:endParaRPr lang="en-US" altLang="en-US"/>
          </a:p>
          <a:p>
            <a:pPr marL="285750" indent="-285750">
              <a:buFont typeface="Arial" panose="020B0604020202020204" pitchFamily="34" charset="0"/>
              <a:buChar char="•"/>
            </a:pPr>
            <a:r>
              <a:rPr lang="en-US" altLang="en-US">
                <a:sym typeface="+mn-ea"/>
              </a:rPr>
              <a:t>Analyzing data usage/manipulation over specified periods of time.</a:t>
            </a:r>
            <a:endParaRPr lang="en-US" altLang="en-US"/>
          </a:p>
          <a:p>
            <a:pPr indent="0">
              <a:buFont typeface="Arial" panose="020B0604020202020204" pitchFamily="34" charset="0"/>
              <a:buNone/>
            </a:pPr>
            <a:endParaRPr lang="en-US" altLang="en-US"/>
          </a:p>
          <a:p>
            <a:endParaRPr lang="en-US"/>
          </a:p>
        </p:txBody>
      </p:sp>
      <p:sp>
        <p:nvSpPr>
          <p:cNvPr id="12" name="Slide Number Placeholder 11"/>
          <p:cNvSpPr>
            <a:spLocks noGrp="1"/>
          </p:cNvSpPr>
          <p:nvPr>
            <p:ph type="sldNum" sz="quarter" idx="12"/>
          </p:nvPr>
        </p:nvSpPr>
        <p:spPr/>
        <p:txBody>
          <a:bodyPr/>
          <a:p>
            <a:fld id="{49AE70B2-8BF9-45C0-BB95-33D1B9D3A854}" type="slidenum">
              <a:rPr lang="en-US" smtClean="0"/>
            </a:fld>
            <a:endParaRPr lang="en-US"/>
          </a:p>
        </p:txBody>
      </p:sp>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Core Architectural Innovations</a:t>
            </a:r>
            <a:endParaRPr lang="en-US" altLang="en-US">
              <a:solidFill>
                <a:schemeClr val="accent1">
                  <a:lumMod val="75000"/>
                </a:schemeClr>
              </a:solidFill>
            </a:endParaRPr>
          </a:p>
        </p:txBody>
      </p:sp>
      <p:sp>
        <p:nvSpPr>
          <p:cNvPr id="5" name="Text Box 4"/>
          <p:cNvSpPr txBox="1"/>
          <p:nvPr/>
        </p:nvSpPr>
        <p:spPr>
          <a:xfrm>
            <a:off x="868680" y="1930400"/>
            <a:ext cx="10292080" cy="1476375"/>
          </a:xfrm>
          <a:prstGeom prst="rect">
            <a:avLst/>
          </a:prstGeom>
          <a:noFill/>
        </p:spPr>
        <p:txBody>
          <a:bodyPr wrap="square" rtlCol="0">
            <a:spAutoFit/>
          </a:bodyPr>
          <a:p>
            <a:pPr indent="0">
              <a:buFont typeface="Arial" panose="020B0604020202020204" pitchFamily="34" charset="0"/>
              <a:buNone/>
            </a:pPr>
            <a:r>
              <a:rPr lang="en-US" altLang="en-US">
                <a:solidFill>
                  <a:schemeClr val="accent1">
                    <a:lumMod val="75000"/>
                  </a:schemeClr>
                </a:solidFill>
              </a:rPr>
              <a:t>Fail-safe</a:t>
            </a:r>
            <a:endParaRPr lang="en-US" altLang="en-US">
              <a:solidFill>
                <a:schemeClr val="accent1">
                  <a:lumMod val="75000"/>
                </a:schemeClr>
              </a:solidFill>
            </a:endParaRPr>
          </a:p>
          <a:p>
            <a:pPr indent="0">
              <a:buFont typeface="Arial" panose="020B0604020202020204" pitchFamily="34" charset="0"/>
              <a:buNone/>
            </a:pPr>
            <a:endParaRPr lang="en-US" altLang="en-US">
              <a:solidFill>
                <a:schemeClr val="accent1">
                  <a:lumMod val="75000"/>
                </a:schemeClr>
              </a:solidFill>
            </a:endParaRPr>
          </a:p>
          <a:p>
            <a:pPr indent="0">
              <a:buFont typeface="Arial" panose="020B0604020202020204" pitchFamily="34" charset="0"/>
              <a:buNone/>
            </a:pPr>
            <a:r>
              <a:rPr lang="en-US" altLang="en-US">
                <a:solidFill>
                  <a:schemeClr val="accent1">
                    <a:lumMod val="75000"/>
                  </a:schemeClr>
                </a:solidFill>
              </a:rPr>
              <a:t> Fail-safe ensures historical data is protected in the event of a system failure or other event (e.g. a security breach).</a:t>
            </a:r>
            <a:endParaRPr lang="en-US" altLang="en-US">
              <a:solidFill>
                <a:schemeClr val="accent1">
                  <a:lumMod val="75000"/>
                </a:schemeClr>
              </a:solidFill>
            </a:endParaRPr>
          </a:p>
          <a:p>
            <a:pPr indent="0">
              <a:buFont typeface="Arial" panose="020B0604020202020204" pitchFamily="34" charset="0"/>
              <a:buNone/>
            </a:pPr>
            <a:endParaRPr lang="en-US" altLang="en-US">
              <a:solidFill>
                <a:schemeClr val="accent1">
                  <a:lumMod val="75000"/>
                </a:schemeClr>
              </a:solidFill>
            </a:endParaRPr>
          </a:p>
        </p:txBody>
      </p:sp>
      <p:pic>
        <p:nvPicPr>
          <p:cNvPr id="6" name="Content Placeholder 5"/>
          <p:cNvPicPr>
            <a:picLocks noChangeAspect="1"/>
          </p:cNvPicPr>
          <p:nvPr>
            <p:ph idx="1"/>
            <p:custDataLst>
              <p:tags r:id="rId2"/>
            </p:custDataLst>
          </p:nvPr>
        </p:nvPicPr>
        <p:blipFill>
          <a:blip r:embed="rId3"/>
          <a:stretch>
            <a:fillRect/>
          </a:stretch>
        </p:blipFill>
        <p:spPr>
          <a:xfrm>
            <a:off x="993140" y="3429000"/>
            <a:ext cx="5768340" cy="2103120"/>
          </a:xfrm>
          <a:prstGeom prst="rect">
            <a:avLst/>
          </a:prstGeom>
        </p:spPr>
      </p:pic>
      <p:sp>
        <p:nvSpPr>
          <p:cNvPr id="7" name="Text Box 6"/>
          <p:cNvSpPr txBox="1"/>
          <p:nvPr/>
        </p:nvSpPr>
        <p:spPr>
          <a:xfrm>
            <a:off x="7037070" y="3157220"/>
            <a:ext cx="4685665" cy="1198880"/>
          </a:xfrm>
          <a:prstGeom prst="rect">
            <a:avLst/>
          </a:prstGeom>
          <a:noFill/>
        </p:spPr>
        <p:txBody>
          <a:bodyPr wrap="square" rtlCol="0">
            <a:spAutoFit/>
          </a:bodyPr>
          <a:p>
            <a:pPr marL="285750" indent="-285750">
              <a:buFont typeface="Arial" panose="020B0604020202020204" pitchFamily="34" charset="0"/>
              <a:buChar char="•"/>
            </a:pPr>
            <a:r>
              <a:rPr lang="en-US" altLang="en-US">
                <a:solidFill>
                  <a:schemeClr val="accent1">
                    <a:lumMod val="75000"/>
                  </a:schemeClr>
                </a:solidFill>
              </a:rPr>
              <a:t>Fail-safe provides a (non-configurable) 7-day period during which historical data may be recoverable by Snowflake. </a:t>
            </a:r>
            <a:endParaRPr lang="en-US" altLang="en-US">
              <a:solidFill>
                <a:schemeClr val="accent1">
                  <a:lumMod val="75000"/>
                </a:schemeClr>
              </a:solidFill>
            </a:endParaRPr>
          </a:p>
          <a:p>
            <a:pPr marL="285750" indent="-285750">
              <a:buFont typeface="Arial" panose="020B0604020202020204" pitchFamily="34" charset="0"/>
              <a:buChar char="•"/>
            </a:pPr>
            <a:endParaRPr lang="en-US" altLang="en-US">
              <a:solidFill>
                <a:schemeClr val="accent1">
                  <a:lumMod val="75000"/>
                </a:schemeClr>
              </a:solidFill>
            </a:endParaRPr>
          </a:p>
        </p:txBody>
      </p:sp>
      <p:sp>
        <p:nvSpPr>
          <p:cNvPr id="8" name="Slide Number Placeholder 7"/>
          <p:cNvSpPr>
            <a:spLocks noGrp="1"/>
          </p:cNvSpPr>
          <p:nvPr>
            <p:ph type="sldNum" sz="quarter" idx="12"/>
          </p:nvPr>
        </p:nvSpPr>
        <p:spPr/>
        <p:txBody>
          <a:bodyPr/>
          <a:p>
            <a:fld id="{49AE70B2-8BF9-45C0-BB95-33D1B9D3A854}" type="slidenum">
              <a:rPr lang="en-US" smtClean="0"/>
            </a:fld>
            <a:endParaRPr lang="en-US"/>
          </a:p>
        </p:txBody>
      </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Core Architectural Innovations</a:t>
            </a:r>
            <a:endParaRPr lang="en-US" altLang="en-US">
              <a:solidFill>
                <a:schemeClr val="accent1">
                  <a:lumMod val="75000"/>
                </a:schemeClr>
              </a:solidFill>
            </a:endParaRPr>
          </a:p>
        </p:txBody>
      </p:sp>
      <p:sp>
        <p:nvSpPr>
          <p:cNvPr id="5" name="Text Box 4"/>
          <p:cNvSpPr txBox="1"/>
          <p:nvPr/>
        </p:nvSpPr>
        <p:spPr>
          <a:xfrm>
            <a:off x="868680" y="1930400"/>
            <a:ext cx="10292080" cy="2306955"/>
          </a:xfrm>
          <a:prstGeom prst="rect">
            <a:avLst/>
          </a:prstGeom>
          <a:noFill/>
        </p:spPr>
        <p:txBody>
          <a:bodyPr wrap="square" rtlCol="0">
            <a:spAutoFit/>
          </a:bodyPr>
          <a:p>
            <a:pPr indent="0">
              <a:buFont typeface="Arial" panose="020B0604020202020204" pitchFamily="34" charset="0"/>
              <a:buNone/>
            </a:pPr>
            <a:r>
              <a:rPr lang="en-US" altLang="en-US">
                <a:solidFill>
                  <a:schemeClr val="accent1">
                    <a:lumMod val="75000"/>
                  </a:schemeClr>
                </a:solidFill>
              </a:rPr>
              <a:t>Secure Data Sharing</a:t>
            </a:r>
            <a:endParaRPr lang="en-US" altLang="en-US">
              <a:solidFill>
                <a:schemeClr val="accent1">
                  <a:lumMod val="75000"/>
                </a:schemeClr>
              </a:solidFill>
            </a:endParaRPr>
          </a:p>
          <a:p>
            <a:pPr indent="0">
              <a:buFont typeface="Arial" panose="020B0604020202020204" pitchFamily="34" charset="0"/>
              <a:buNone/>
            </a:pPr>
            <a:endParaRPr lang="en-US" altLang="en-US">
              <a:solidFill>
                <a:schemeClr val="accent1">
                  <a:lumMod val="75000"/>
                </a:schemeClr>
              </a:solidFill>
            </a:endParaRPr>
          </a:p>
          <a:p>
            <a:pPr marL="285750" indent="-285750">
              <a:buFont typeface="Arial" panose="020B0604020202020204" pitchFamily="34" charset="0"/>
              <a:buChar char="•"/>
            </a:pPr>
            <a:r>
              <a:rPr lang="en-US" altLang="en-US">
                <a:solidFill>
                  <a:schemeClr val="tx1"/>
                </a:solidFill>
              </a:rPr>
              <a:t>With Secure Data Sharing, no actual data is copied or transferred between accounts. All sharing uses Snowflake’s services layer and metadata store. </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Shared data does not take up any storage in a consumer account and therefore does not contribute to the consumer’s monthly data storage charges.</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The only charges to consumers are for the compute resources (i.e. virtual warehouses) used to query the imported data.</a:t>
            </a:r>
            <a:endParaRPr lang="en-US" altLang="en-US">
              <a:solidFill>
                <a:schemeClr val="tx1"/>
              </a:solidFill>
            </a:endParaRPr>
          </a:p>
        </p:txBody>
      </p:sp>
      <p:sp>
        <p:nvSpPr>
          <p:cNvPr id="7" name="Text Box 6"/>
          <p:cNvSpPr txBox="1"/>
          <p:nvPr/>
        </p:nvSpPr>
        <p:spPr>
          <a:xfrm>
            <a:off x="1066800" y="4470400"/>
            <a:ext cx="4685665" cy="1753235"/>
          </a:xfrm>
          <a:prstGeom prst="rect">
            <a:avLst/>
          </a:prstGeom>
          <a:noFill/>
        </p:spPr>
        <p:txBody>
          <a:bodyPr wrap="square" rtlCol="0">
            <a:spAutoFit/>
          </a:bodyPr>
          <a:p>
            <a:pPr marL="285750" indent="-285750">
              <a:lnSpc>
                <a:spcPct val="50000"/>
              </a:lnSpc>
              <a:buFont typeface="Arial" panose="020B0604020202020204" pitchFamily="34" charset="0"/>
              <a:buChar char="•"/>
            </a:pPr>
            <a:r>
              <a:rPr lang="en-US" altLang="en-US">
                <a:solidFill>
                  <a:schemeClr val="tx1"/>
                </a:solidFill>
              </a:rPr>
              <a:t>Databases</a:t>
            </a:r>
            <a:endParaRPr lang="en-US" altLang="en-US">
              <a:solidFill>
                <a:schemeClr val="tx1"/>
              </a:solidFill>
            </a:endParaRPr>
          </a:p>
          <a:p>
            <a:pPr marL="285750" indent="-285750">
              <a:lnSpc>
                <a:spcPct val="50000"/>
              </a:lnSpc>
              <a:buFont typeface="Arial" panose="020B0604020202020204" pitchFamily="34" charset="0"/>
              <a:buChar char="•"/>
            </a:pPr>
            <a:endParaRPr lang="en-US" altLang="en-US">
              <a:solidFill>
                <a:schemeClr val="tx1"/>
              </a:solidFill>
            </a:endParaRPr>
          </a:p>
          <a:p>
            <a:pPr marL="285750" indent="-285750">
              <a:lnSpc>
                <a:spcPct val="50000"/>
              </a:lnSpc>
              <a:buFont typeface="Arial" panose="020B0604020202020204" pitchFamily="34" charset="0"/>
              <a:buChar char="•"/>
            </a:pPr>
            <a:r>
              <a:rPr lang="en-US" altLang="en-US">
                <a:solidFill>
                  <a:schemeClr val="tx1"/>
                </a:solidFill>
              </a:rPr>
              <a:t>Tables</a:t>
            </a:r>
            <a:endParaRPr lang="en-US" altLang="en-US">
              <a:solidFill>
                <a:schemeClr val="tx1"/>
              </a:solidFill>
            </a:endParaRPr>
          </a:p>
          <a:p>
            <a:pPr marL="285750" indent="-285750">
              <a:lnSpc>
                <a:spcPct val="50000"/>
              </a:lnSpc>
              <a:buFont typeface="Arial" panose="020B0604020202020204" pitchFamily="34" charset="0"/>
              <a:buChar char="•"/>
            </a:pPr>
            <a:endParaRPr lang="en-US" altLang="en-US">
              <a:solidFill>
                <a:schemeClr val="tx1"/>
              </a:solidFill>
            </a:endParaRPr>
          </a:p>
          <a:p>
            <a:pPr marL="285750" indent="-285750">
              <a:lnSpc>
                <a:spcPct val="50000"/>
              </a:lnSpc>
              <a:buFont typeface="Arial" panose="020B0604020202020204" pitchFamily="34" charset="0"/>
              <a:buChar char="•"/>
            </a:pPr>
            <a:r>
              <a:rPr lang="en-US" altLang="en-US">
                <a:solidFill>
                  <a:schemeClr val="tx1"/>
                </a:solidFill>
              </a:rPr>
              <a:t>Dynamic tables</a:t>
            </a:r>
            <a:endParaRPr lang="en-US" altLang="en-US">
              <a:solidFill>
                <a:schemeClr val="tx1"/>
              </a:solidFill>
            </a:endParaRPr>
          </a:p>
          <a:p>
            <a:pPr marL="285750" indent="-285750">
              <a:lnSpc>
                <a:spcPct val="50000"/>
              </a:lnSpc>
              <a:buFont typeface="Arial" panose="020B0604020202020204" pitchFamily="34" charset="0"/>
              <a:buChar char="•"/>
            </a:pPr>
            <a:endParaRPr lang="en-US" altLang="en-US">
              <a:solidFill>
                <a:schemeClr val="tx1"/>
              </a:solidFill>
            </a:endParaRPr>
          </a:p>
          <a:p>
            <a:pPr marL="285750" indent="-285750">
              <a:lnSpc>
                <a:spcPct val="50000"/>
              </a:lnSpc>
              <a:buFont typeface="Arial" panose="020B0604020202020204" pitchFamily="34" charset="0"/>
              <a:buChar char="•"/>
            </a:pPr>
            <a:r>
              <a:rPr lang="en-US" altLang="en-US">
                <a:solidFill>
                  <a:schemeClr val="tx1"/>
                </a:solidFill>
              </a:rPr>
              <a:t>External tables</a:t>
            </a:r>
            <a:endParaRPr lang="en-US" altLang="en-US">
              <a:solidFill>
                <a:schemeClr val="tx1"/>
              </a:solidFill>
            </a:endParaRPr>
          </a:p>
          <a:p>
            <a:pPr marL="285750" indent="-285750">
              <a:lnSpc>
                <a:spcPct val="50000"/>
              </a:lnSpc>
              <a:buFont typeface="Arial" panose="020B0604020202020204" pitchFamily="34" charset="0"/>
              <a:buChar char="•"/>
            </a:pPr>
            <a:endParaRPr lang="en-US" altLang="en-US">
              <a:solidFill>
                <a:schemeClr val="tx1"/>
              </a:solidFill>
            </a:endParaRPr>
          </a:p>
          <a:p>
            <a:pPr marL="285750" indent="-285750">
              <a:lnSpc>
                <a:spcPct val="50000"/>
              </a:lnSpc>
              <a:buFont typeface="Arial" panose="020B0604020202020204" pitchFamily="34" charset="0"/>
              <a:buChar char="•"/>
            </a:pPr>
            <a:r>
              <a:rPr lang="en-US" altLang="en-US">
                <a:solidFill>
                  <a:schemeClr val="tx1"/>
                </a:solidFill>
              </a:rPr>
              <a:t>Externally managed and managed Apache Iceberg™ tables</a:t>
            </a:r>
            <a:endParaRPr lang="en-US" altLang="en-US">
              <a:solidFill>
                <a:schemeClr val="tx1"/>
              </a:solidFill>
            </a:endParaRPr>
          </a:p>
          <a:p>
            <a:pPr marL="285750" indent="-285750">
              <a:lnSpc>
                <a:spcPct val="50000"/>
              </a:lnSpc>
              <a:buFont typeface="Arial" panose="020B0604020202020204" pitchFamily="34" charset="0"/>
              <a:buChar char="•"/>
            </a:pPr>
            <a:endParaRPr lang="en-US" altLang="en-US">
              <a:solidFill>
                <a:schemeClr val="tx1"/>
              </a:solidFill>
            </a:endParaRPr>
          </a:p>
          <a:p>
            <a:pPr marL="285750" indent="-285750">
              <a:lnSpc>
                <a:spcPct val="50000"/>
              </a:lnSpc>
              <a:buFont typeface="Arial" panose="020B0604020202020204" pitchFamily="34" charset="0"/>
              <a:buChar char="•"/>
            </a:pPr>
            <a:r>
              <a:rPr lang="en-US" altLang="en-US">
                <a:solidFill>
                  <a:schemeClr val="tx1"/>
                </a:solidFill>
              </a:rPr>
              <a:t>Externally managed Delta Lake tables</a:t>
            </a:r>
            <a:endParaRPr lang="en-US" altLang="en-US">
              <a:solidFill>
                <a:schemeClr val="tx1"/>
              </a:solidFill>
            </a:endParaRPr>
          </a:p>
        </p:txBody>
      </p:sp>
      <p:sp>
        <p:nvSpPr>
          <p:cNvPr id="3" name="Text Box 2"/>
          <p:cNvSpPr txBox="1"/>
          <p:nvPr/>
        </p:nvSpPr>
        <p:spPr>
          <a:xfrm>
            <a:off x="6663690" y="4237355"/>
            <a:ext cx="4685665" cy="2317115"/>
          </a:xfrm>
          <a:prstGeom prst="rect">
            <a:avLst/>
          </a:prstGeom>
          <a:noFill/>
        </p:spPr>
        <p:txBody>
          <a:bodyPr wrap="square" rtlCol="0">
            <a:noAutofit/>
          </a:bodyPr>
          <a:p>
            <a:pPr marL="285750" indent="-285750">
              <a:lnSpc>
                <a:spcPct val="40000"/>
              </a:lnSpc>
              <a:buFont typeface="Arial" panose="020B0604020202020204" pitchFamily="34" charset="0"/>
              <a:buChar char="•"/>
            </a:pPr>
            <a:r>
              <a:rPr lang="en-US" altLang="en-US">
                <a:solidFill>
                  <a:schemeClr val="tx1"/>
                </a:solidFill>
              </a:rPr>
              <a:t>Views</a:t>
            </a:r>
            <a:endParaRPr lang="en-US" altLang="en-US">
              <a:solidFill>
                <a:schemeClr val="tx1"/>
              </a:solidFill>
            </a:endParaRPr>
          </a:p>
          <a:p>
            <a:pPr marL="285750" indent="-285750">
              <a:lnSpc>
                <a:spcPct val="40000"/>
              </a:lnSpc>
              <a:buFont typeface="Arial" panose="020B0604020202020204" pitchFamily="34" charset="0"/>
              <a:buChar char="•"/>
            </a:pPr>
            <a:endParaRPr lang="en-US" altLang="en-US">
              <a:solidFill>
                <a:schemeClr val="tx1"/>
              </a:solidFill>
            </a:endParaRPr>
          </a:p>
          <a:p>
            <a:pPr marL="285750" indent="-285750">
              <a:lnSpc>
                <a:spcPct val="60000"/>
              </a:lnSpc>
              <a:buFont typeface="Arial" panose="020B0604020202020204" pitchFamily="34" charset="0"/>
              <a:buChar char="•"/>
            </a:pPr>
            <a:endParaRPr lang="en-US" altLang="en-US">
              <a:solidFill>
                <a:schemeClr val="tx1"/>
              </a:solidFill>
            </a:endParaRPr>
          </a:p>
          <a:p>
            <a:pPr marL="285750" indent="-285750">
              <a:lnSpc>
                <a:spcPct val="60000"/>
              </a:lnSpc>
              <a:buFont typeface="Arial" panose="020B0604020202020204" pitchFamily="34" charset="0"/>
              <a:buChar char="•"/>
            </a:pPr>
            <a:r>
              <a:rPr lang="en-US" altLang="en-US">
                <a:solidFill>
                  <a:schemeClr val="tx1"/>
                </a:solidFill>
              </a:rPr>
              <a:t>Cortex Search services</a:t>
            </a:r>
            <a:endParaRPr lang="en-US" altLang="en-US">
              <a:solidFill>
                <a:schemeClr val="tx1"/>
              </a:solidFill>
            </a:endParaRPr>
          </a:p>
          <a:p>
            <a:pPr marL="285750" indent="-285750">
              <a:lnSpc>
                <a:spcPct val="60000"/>
              </a:lnSpc>
              <a:buFont typeface="Arial" panose="020B0604020202020204" pitchFamily="34" charset="0"/>
              <a:buChar char="•"/>
            </a:pPr>
            <a:endParaRPr lang="en-US" altLang="en-US">
              <a:solidFill>
                <a:schemeClr val="tx1"/>
              </a:solidFill>
            </a:endParaRPr>
          </a:p>
          <a:p>
            <a:pPr marL="285750" indent="-285750">
              <a:lnSpc>
                <a:spcPct val="60000"/>
              </a:lnSpc>
              <a:buFont typeface="Arial" panose="020B0604020202020204" pitchFamily="34" charset="0"/>
              <a:buChar char="•"/>
            </a:pPr>
            <a:r>
              <a:rPr lang="en-US" altLang="en-US">
                <a:solidFill>
                  <a:schemeClr val="tx1"/>
                </a:solidFill>
              </a:rPr>
              <a:t>User-defined functions (UDFs) (secure and non-secure)</a:t>
            </a:r>
            <a:endParaRPr lang="en-US" altLang="en-US">
              <a:solidFill>
                <a:schemeClr val="tx1"/>
              </a:solidFill>
            </a:endParaRPr>
          </a:p>
          <a:p>
            <a:pPr marL="285750" indent="-285750">
              <a:lnSpc>
                <a:spcPct val="70000"/>
              </a:lnSpc>
              <a:buFont typeface="Arial" panose="020B0604020202020204" pitchFamily="34" charset="0"/>
              <a:buChar char="•"/>
            </a:pPr>
            <a:endParaRPr lang="en-US" altLang="en-US">
              <a:solidFill>
                <a:schemeClr val="tx1"/>
              </a:solidFill>
            </a:endParaRPr>
          </a:p>
          <a:p>
            <a:pPr marL="285750" indent="-285750">
              <a:lnSpc>
                <a:spcPct val="70000"/>
              </a:lnSpc>
              <a:buFont typeface="Arial" panose="020B0604020202020204" pitchFamily="34" charset="0"/>
              <a:buChar char="•"/>
            </a:pPr>
            <a:r>
              <a:rPr lang="en-US" altLang="en-US">
                <a:solidFill>
                  <a:schemeClr val="tx1"/>
                </a:solidFill>
              </a:rPr>
              <a:t>Models of type USER_MODEL, CORTEX_FINETUNED, or DOC_AI</a:t>
            </a:r>
            <a:endParaRPr lang="en-US" altLang="en-US">
              <a:solidFill>
                <a:schemeClr val="tx1"/>
              </a:solidFill>
            </a:endParaRPr>
          </a:p>
        </p:txBody>
      </p:sp>
      <p:sp>
        <p:nvSpPr>
          <p:cNvPr id="8" name="Slide Number Placeholder 7"/>
          <p:cNvSpPr>
            <a:spLocks noGrp="1"/>
          </p:cNvSpPr>
          <p:nvPr>
            <p:ph type="sldNum" sz="quarter" idx="12"/>
          </p:nvPr>
        </p:nvSpPr>
        <p:spPr/>
        <p:txBody>
          <a:bodyPr/>
          <a:p>
            <a:fld id="{49AE70B2-8BF9-45C0-BB95-33D1B9D3A854}" type="slidenum">
              <a:rPr lang="en-US" smtClean="0"/>
            </a:fld>
            <a:endParaRPr lang="en-US"/>
          </a:p>
        </p:txBody>
      </p:sp>
      <p:pic>
        <p:nvPicPr>
          <p:cNvPr id="9" name="Content Placeholder 8"/>
          <p:cNvPicPr>
            <a:picLocks noChangeAspect="1"/>
          </p:cNvPicPr>
          <p:nvPr>
            <p:ph idx="1"/>
            <p:custDataLst>
              <p:tags r:id="rId2"/>
            </p:custDataLst>
          </p:nvPr>
        </p:nvPicPr>
        <p:blipFill>
          <a:blip r:embed="rId3"/>
          <a:srcRect t="10715" b="10715"/>
          <a:stretch>
            <a:fillRect/>
          </a:stretch>
        </p:blipFill>
        <p:spPr>
          <a:xfrm>
            <a:off x="9254490" y="5967730"/>
            <a:ext cx="1372870" cy="595630"/>
          </a:xfrm>
        </p:spPr>
      </p:pic>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Core Architectural Innovations</a:t>
            </a:r>
            <a:endParaRPr lang="en-US" altLang="en-US">
              <a:solidFill>
                <a:schemeClr val="accent1">
                  <a:lumMod val="75000"/>
                </a:schemeClr>
              </a:solidFill>
            </a:endParaRPr>
          </a:p>
        </p:txBody>
      </p:sp>
      <p:sp>
        <p:nvSpPr>
          <p:cNvPr id="5" name="Text Box 4"/>
          <p:cNvSpPr txBox="1"/>
          <p:nvPr/>
        </p:nvSpPr>
        <p:spPr>
          <a:xfrm>
            <a:off x="868680" y="1930400"/>
            <a:ext cx="10292080" cy="3692525"/>
          </a:xfrm>
          <a:prstGeom prst="rect">
            <a:avLst/>
          </a:prstGeom>
          <a:noFill/>
        </p:spPr>
        <p:txBody>
          <a:bodyPr wrap="square" rtlCol="0">
            <a:spAutoFit/>
          </a:bodyPr>
          <a:p>
            <a:pPr indent="0">
              <a:buFont typeface="Arial" panose="020B0604020202020204" pitchFamily="34" charset="0"/>
              <a:buNone/>
            </a:pPr>
            <a:r>
              <a:rPr lang="en-US" altLang="en-US">
                <a:solidFill>
                  <a:schemeClr val="accent1">
                    <a:lumMod val="75000"/>
                  </a:schemeClr>
                </a:solidFill>
              </a:rPr>
              <a:t>Native Support for Multiple Data Types</a:t>
            </a:r>
            <a:endParaRPr lang="en-US" altLang="en-US">
              <a:solidFill>
                <a:schemeClr val="accent1">
                  <a:lumMod val="75000"/>
                </a:schemeClr>
              </a:solidFill>
            </a:endParaRPr>
          </a:p>
          <a:p>
            <a:pPr indent="0">
              <a:buFont typeface="Arial" panose="020B0604020202020204" pitchFamily="34" charset="0"/>
              <a:buNone/>
            </a:pPr>
            <a:endParaRPr lang="en-US" altLang="en-US">
              <a:solidFill>
                <a:schemeClr val="accent1">
                  <a:lumMod val="75000"/>
                </a:schemeClr>
              </a:solidFill>
            </a:endParaRPr>
          </a:p>
          <a:p>
            <a:pPr indent="0">
              <a:buFont typeface="Arial" panose="020B0604020202020204" pitchFamily="34" charset="0"/>
              <a:buNone/>
            </a:pPr>
            <a:r>
              <a:rPr lang="en-US" altLang="en-US">
                <a:solidFill>
                  <a:schemeClr val="tx1"/>
                </a:solidFill>
              </a:rPr>
              <a:t>Snowflake's native type support spans four broad families:</a:t>
            </a:r>
            <a:endParaRPr lang="en-US" altLang="en-US">
              <a:solidFill>
                <a:schemeClr val="tx1"/>
              </a:solidFill>
            </a:endParaRPr>
          </a:p>
          <a:p>
            <a:pPr indent="0">
              <a:buFont typeface="Arial" panose="020B0604020202020204" pitchFamily="34" charset="0"/>
              <a:buNone/>
            </a:pP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Structured types are your standard relational building blocks — numbers, strings, booleans, and binary. Nothing exotic here, but Snowflake handles precision exactly (e.g. NUMBER(38, 18)) with no silent rounding.</a:t>
            </a:r>
            <a:endParaRPr lang="en-US" altLang="en-US">
              <a:solidFill>
                <a:schemeClr val="tx1"/>
              </a:solidFill>
            </a:endParaRPr>
          </a:p>
          <a:p>
            <a:pPr marL="285750" indent="-285750">
              <a:buFont typeface="Arial" panose="020B0604020202020204" pitchFamily="34" charset="0"/>
              <a:buChar char="•"/>
            </a:pP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Semi-structured types are where Snowflake really differentiates itself. VARIANT can hold any JSON, Avro, ORC, or Parquet value and stores it internally as compressed columnar data. You query nested fields with dot-notation (col:field.subfield) or bracket syntax, and Snowflake's optimizer can even "prune" to just the nested paths you touch — no full document scan needed.</a:t>
            </a:r>
            <a:endParaRPr lang="en-US" altLang="en-US">
              <a:solidFill>
                <a:schemeClr val="tx1"/>
              </a:solidFill>
            </a:endParaRPr>
          </a:p>
          <a:p>
            <a:pPr marL="285750" indent="-285750">
              <a:buFont typeface="Arial" panose="020B0604020202020204" pitchFamily="34" charset="0"/>
              <a:buChar char="•"/>
            </a:pPr>
            <a:endParaRPr lang="en-US" altLang="en-US">
              <a:solidFill>
                <a:schemeClr val="tx1"/>
              </a:solidFill>
            </a:endParaRPr>
          </a:p>
        </p:txBody>
      </p:sp>
      <p:sp>
        <p:nvSpPr>
          <p:cNvPr id="2" name="Slide Number Placeholder 1"/>
          <p:cNvSpPr>
            <a:spLocks noGrp="1"/>
          </p:cNvSpPr>
          <p:nvPr>
            <p:ph type="sldNum" sz="quarter" idx="12"/>
          </p:nvPr>
        </p:nvSpPr>
        <p:spPr/>
        <p:txBody>
          <a:bodyPr/>
          <a:p>
            <a:fld id="{49AE70B2-8BF9-45C0-BB95-33D1B9D3A854}" type="slidenum">
              <a:rPr lang="en-US" smtClean="0"/>
            </a:fld>
            <a:endParaRPr lang="en-US"/>
          </a:p>
        </p:txBody>
      </p:sp>
      <p:pic>
        <p:nvPicPr>
          <p:cNvPr id="6" name="Content Placeholder 5"/>
          <p:cNvPicPr>
            <a:picLocks noChangeAspect="1"/>
          </p:cNvPicPr>
          <p:nvPr>
            <p:ph idx="1"/>
            <p:custDataLst>
              <p:tags r:id="rId2"/>
            </p:custDataLst>
          </p:nvPr>
        </p:nvPicPr>
        <p:blipFill>
          <a:blip r:embed="rId3"/>
          <a:srcRect t="10715" b="10715"/>
          <a:stretch>
            <a:fillRect/>
          </a:stretch>
        </p:blipFill>
        <p:spPr>
          <a:xfrm>
            <a:off x="9044940" y="5408295"/>
            <a:ext cx="2532380" cy="1098550"/>
          </a:xfrm>
        </p:spPr>
      </p:pic>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Core Architectural Innovations</a:t>
            </a:r>
            <a:endParaRPr lang="en-US" altLang="en-US">
              <a:solidFill>
                <a:schemeClr val="accent1">
                  <a:lumMod val="75000"/>
                </a:schemeClr>
              </a:solidFill>
            </a:endParaRPr>
          </a:p>
        </p:txBody>
      </p:sp>
      <p:sp>
        <p:nvSpPr>
          <p:cNvPr id="5" name="Text Box 4"/>
          <p:cNvSpPr txBox="1"/>
          <p:nvPr/>
        </p:nvSpPr>
        <p:spPr>
          <a:xfrm>
            <a:off x="868680" y="1930400"/>
            <a:ext cx="10292080" cy="4523105"/>
          </a:xfrm>
          <a:prstGeom prst="rect">
            <a:avLst/>
          </a:prstGeom>
          <a:noFill/>
        </p:spPr>
        <p:txBody>
          <a:bodyPr wrap="square" rtlCol="0">
            <a:spAutoFit/>
          </a:bodyPr>
          <a:p>
            <a:pPr indent="0">
              <a:buFont typeface="Arial" panose="020B0604020202020204" pitchFamily="34" charset="0"/>
              <a:buNone/>
            </a:pPr>
            <a:r>
              <a:rPr lang="en-US" altLang="en-US">
                <a:solidFill>
                  <a:schemeClr val="accent1">
                    <a:lumMod val="75000"/>
                  </a:schemeClr>
                </a:solidFill>
              </a:rPr>
              <a:t>Native Support for Multiple Data Types</a:t>
            </a:r>
            <a:endParaRPr lang="en-US" altLang="en-US">
              <a:solidFill>
                <a:schemeClr val="accent1">
                  <a:lumMod val="75000"/>
                </a:schemeClr>
              </a:solidFill>
            </a:endParaRPr>
          </a:p>
          <a:p>
            <a:pPr indent="0">
              <a:buFont typeface="Arial" panose="020B0604020202020204" pitchFamily="34" charset="0"/>
              <a:buNone/>
            </a:pPr>
            <a:endParaRPr lang="en-US" altLang="en-US">
              <a:solidFill>
                <a:schemeClr val="accent1">
                  <a:lumMod val="75000"/>
                </a:schemeClr>
              </a:solidFill>
            </a:endParaRPr>
          </a:p>
          <a:p>
            <a:pPr marL="285750" indent="-285750">
              <a:buFont typeface="Arial" panose="020B0604020202020204" pitchFamily="34" charset="0"/>
              <a:buChar char="•"/>
            </a:pPr>
            <a:r>
              <a:rPr lang="en-US" altLang="en-US">
                <a:solidFill>
                  <a:schemeClr val="accent1">
                    <a:lumMod val="75000"/>
                  </a:schemeClr>
                </a:solidFill>
              </a:rPr>
              <a:t>Date &amp; time gives you three flavors of timestamp: </a:t>
            </a:r>
            <a:r>
              <a:rPr lang="en-US" altLang="en-US">
                <a:solidFill>
                  <a:schemeClr val="tx1"/>
                </a:solidFill>
              </a:rPr>
              <a:t>NTZ (no timezone, just a wall-clock moment), LTZ (stored in UTC, displayed in the session timezone), and TZ (stores the original offset alongside the value). All support up to nanosecond precision.</a:t>
            </a:r>
            <a:endParaRPr lang="en-US" altLang="en-US">
              <a:solidFill>
                <a:schemeClr val="tx1"/>
              </a:solidFill>
            </a:endParaRPr>
          </a:p>
          <a:p>
            <a:pPr marL="285750" indent="-285750">
              <a:buFont typeface="Arial" panose="020B0604020202020204" pitchFamily="34" charset="0"/>
              <a:buChar char="•"/>
            </a:pPr>
            <a:endParaRPr lang="en-US" altLang="en-US">
              <a:solidFill>
                <a:schemeClr val="accent1">
                  <a:lumMod val="75000"/>
                </a:schemeClr>
              </a:solidFill>
            </a:endParaRPr>
          </a:p>
          <a:p>
            <a:pPr marL="285750" indent="-285750">
              <a:buFont typeface="Arial" panose="020B0604020202020204" pitchFamily="34" charset="0"/>
              <a:buChar char="•"/>
            </a:pPr>
            <a:r>
              <a:rPr lang="en-US" altLang="en-US">
                <a:solidFill>
                  <a:schemeClr val="accent1">
                    <a:lumMod val="75000"/>
                  </a:schemeClr>
                </a:solidFill>
              </a:rPr>
              <a:t>Geospatial types (GEOGRAPHY and GEOMETRY) </a:t>
            </a:r>
            <a:r>
              <a:rPr lang="en-US" altLang="en-US">
                <a:solidFill>
                  <a:schemeClr val="tx1"/>
                </a:solidFill>
              </a:rPr>
              <a:t>are first-class citizens since 2020. GEOGRAPHY uses the WGS84 spherical model (real-world coordinates), while GEOMETRY works on a flat Euclidean plane. Both accept GeoJSON, WKT, or WKB as input and expose the standard ST_* function library (ST_DISTANCE, ST_WITHIN, ST_INTERSECTS, etc.) — no PostGIS extension needed.</a:t>
            </a:r>
            <a:endParaRPr lang="en-US" altLang="en-US">
              <a:solidFill>
                <a:schemeClr val="tx1"/>
              </a:solidFill>
            </a:endParaRPr>
          </a:p>
          <a:p>
            <a:pPr marL="285750" indent="-285750">
              <a:buFont typeface="Arial" panose="020B0604020202020204" pitchFamily="34" charset="0"/>
              <a:buChar char="•"/>
            </a:pPr>
            <a:endParaRPr lang="en-US" altLang="en-US">
              <a:solidFill>
                <a:schemeClr val="accent1">
                  <a:lumMod val="75000"/>
                </a:schemeClr>
              </a:solidFill>
            </a:endParaRPr>
          </a:p>
          <a:p>
            <a:pPr indent="0">
              <a:buFont typeface="Arial" panose="020B0604020202020204" pitchFamily="34" charset="0"/>
              <a:buNone/>
            </a:pPr>
            <a:r>
              <a:rPr lang="en-US" altLang="en-US">
                <a:solidFill>
                  <a:schemeClr val="accent1">
                    <a:lumMod val="75000"/>
                  </a:schemeClr>
                </a:solidFill>
              </a:rPr>
              <a:t>The practical payoff: you can join a JSON event log, a geofence polygon, and a timestamp range in a single query, with all three types stored natively in columnar format and compressed on disk.</a:t>
            </a:r>
            <a:r>
              <a:rPr lang="zh-CN" altLang="en-US">
                <a:solidFill>
                  <a:schemeClr val="accent1">
                    <a:lumMod val="75000"/>
                  </a:schemeClr>
                </a:solidFill>
              </a:rPr>
              <a:t></a:t>
            </a:r>
            <a:endParaRPr lang="zh-CN" altLang="en-US">
              <a:solidFill>
                <a:schemeClr val="accent1">
                  <a:lumMod val="75000"/>
                </a:schemeClr>
              </a:solidFill>
            </a:endParaRPr>
          </a:p>
          <a:p>
            <a:pPr marL="285750" indent="-285750">
              <a:buFont typeface="Arial" panose="020B0604020202020204" pitchFamily="34" charset="0"/>
              <a:buChar char="•"/>
            </a:pPr>
            <a:endParaRPr lang="en-US" altLang="en-US">
              <a:solidFill>
                <a:schemeClr val="accent1">
                  <a:lumMod val="75000"/>
                </a:schemeClr>
              </a:solidFill>
            </a:endParaRPr>
          </a:p>
        </p:txBody>
      </p:sp>
      <p:sp>
        <p:nvSpPr>
          <p:cNvPr id="2" name="Slide Number Placeholder 1"/>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2"/>
            </p:custDataLst>
          </p:nvPr>
        </p:nvPicPr>
        <p:blipFill>
          <a:blip r:embed="rId3"/>
          <a:srcRect t="10715" b="10715"/>
          <a:stretch>
            <a:fillRect/>
          </a:stretch>
        </p:blipFill>
        <p:spPr>
          <a:xfrm>
            <a:off x="9292590" y="5836920"/>
            <a:ext cx="1544320" cy="669925"/>
          </a:xfrm>
        </p:spPr>
      </p:pic>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Core Architectural Innovations</a:t>
            </a:r>
            <a:endParaRPr lang="en-US" altLang="en-US">
              <a:solidFill>
                <a:schemeClr val="accent1">
                  <a:lumMod val="75000"/>
                </a:schemeClr>
              </a:solidFill>
            </a:endParaRPr>
          </a:p>
        </p:txBody>
      </p:sp>
      <p:pic>
        <p:nvPicPr>
          <p:cNvPr id="2" name="Picture 1"/>
          <p:cNvPicPr>
            <a:picLocks noChangeAspect="1"/>
          </p:cNvPicPr>
          <p:nvPr/>
        </p:nvPicPr>
        <p:blipFill>
          <a:blip r:embed="rId2"/>
          <a:stretch>
            <a:fillRect/>
          </a:stretch>
        </p:blipFill>
        <p:spPr>
          <a:xfrm>
            <a:off x="3219450" y="1268095"/>
            <a:ext cx="5904865" cy="5120640"/>
          </a:xfrm>
          <a:prstGeom prst="rect">
            <a:avLst/>
          </a:prstGeom>
        </p:spPr>
      </p:pic>
      <p:sp>
        <p:nvSpPr>
          <p:cNvPr id="3" name="Slide Number Placeholder 2"/>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3"/>
            </p:custDataLst>
          </p:nvPr>
        </p:nvPicPr>
        <p:blipFill>
          <a:blip r:embed="rId4"/>
          <a:srcRect t="10715" b="10715"/>
          <a:stretch>
            <a:fillRect/>
          </a:stretch>
        </p:blipFill>
        <p:spPr>
          <a:xfrm>
            <a:off x="9594215" y="5064760"/>
            <a:ext cx="2116455" cy="918210"/>
          </a:xfrm>
        </p:spPr>
      </p:pic>
    </p:spTree>
    <p:custDataLst>
      <p:tags r:id="rId5"/>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AI &amp; Cortex Innovations</a:t>
            </a:r>
            <a:endParaRPr lang="en-US" altLang="en-US">
              <a:solidFill>
                <a:schemeClr val="accent1">
                  <a:lumMod val="75000"/>
                </a:schemeClr>
              </a:solidFill>
            </a:endParaRPr>
          </a:p>
        </p:txBody>
      </p:sp>
      <p:sp>
        <p:nvSpPr>
          <p:cNvPr id="5" name="Text Box 4"/>
          <p:cNvSpPr txBox="1"/>
          <p:nvPr/>
        </p:nvSpPr>
        <p:spPr>
          <a:xfrm>
            <a:off x="868680" y="1930400"/>
            <a:ext cx="10292080" cy="4298950"/>
          </a:xfrm>
          <a:prstGeom prst="rect">
            <a:avLst/>
          </a:prstGeom>
          <a:noFill/>
        </p:spPr>
        <p:txBody>
          <a:bodyPr wrap="square" rtlCol="0">
            <a:spAutoFit/>
          </a:bodyPr>
          <a:p>
            <a:pPr indent="0">
              <a:buFont typeface="Arial" panose="020B0604020202020204" pitchFamily="34" charset="0"/>
              <a:buNone/>
            </a:pPr>
            <a:r>
              <a:rPr lang="en-US" altLang="en-US">
                <a:solidFill>
                  <a:schemeClr val="accent1">
                    <a:lumMod val="75000"/>
                  </a:schemeClr>
                </a:solidFill>
              </a:rPr>
              <a:t> Cortex AI (AI in SQL)</a:t>
            </a:r>
            <a:endParaRPr lang="en-US" altLang="en-US">
              <a:solidFill>
                <a:schemeClr val="accent1">
                  <a:lumMod val="75000"/>
                </a:schemeClr>
              </a:solidFill>
            </a:endParaRPr>
          </a:p>
          <a:p>
            <a:pPr indent="0">
              <a:buFont typeface="Arial" panose="020B0604020202020204" pitchFamily="34" charset="0"/>
              <a:buNone/>
            </a:pPr>
            <a:endParaRPr lang="en-US" altLang="en-US">
              <a:solidFill>
                <a:schemeClr val="accent1">
                  <a:lumMod val="75000"/>
                </a:schemeClr>
              </a:solidFill>
            </a:endParaRPr>
          </a:p>
          <a:p>
            <a:pPr marL="285750" indent="-285750">
              <a:lnSpc>
                <a:spcPct val="120000"/>
              </a:lnSpc>
              <a:buFont typeface="Arial" panose="020B0604020202020204" pitchFamily="34" charset="0"/>
              <a:buChar char="•"/>
            </a:pPr>
            <a:r>
              <a:rPr lang="en-US" altLang="en-US">
                <a:solidFill>
                  <a:schemeClr val="tx1"/>
                </a:solidFill>
              </a:rPr>
              <a:t>Cortex AI Functions let users run unstructured analytics on text and images with industry-leading LLMs from OpenAI, Anthropic, Meta, Mistral AI, and DeepSeek</a:t>
            </a:r>
            <a:endParaRPr lang="en-US" altLang="en-US">
              <a:solidFill>
                <a:schemeClr val="tx1"/>
              </a:solidFill>
            </a:endParaRPr>
          </a:p>
          <a:p>
            <a:pPr marL="285750" indent="-285750">
              <a:lnSpc>
                <a:spcPct val="120000"/>
              </a:lnSpc>
              <a:buFont typeface="Arial" panose="020B0604020202020204" pitchFamily="34" charset="0"/>
              <a:buChar char="•"/>
            </a:pPr>
            <a:r>
              <a:rPr lang="en-US" altLang="en-US">
                <a:solidFill>
                  <a:schemeClr val="tx1"/>
                </a:solidFill>
              </a:rPr>
              <a:t>All accessible via standard SQL or Python, right inside Snowflake</a:t>
            </a:r>
            <a:endParaRPr lang="en-US" altLang="en-US">
              <a:solidFill>
                <a:schemeClr val="tx1"/>
              </a:solidFill>
            </a:endParaRPr>
          </a:p>
          <a:p>
            <a:pPr indent="0">
              <a:lnSpc>
                <a:spcPct val="120000"/>
              </a:lnSpc>
              <a:buFont typeface="Arial" panose="020B0604020202020204" pitchFamily="34" charset="0"/>
              <a:buNone/>
            </a:pPr>
            <a:endParaRPr lang="en-US" altLang="en-US">
              <a:solidFill>
                <a:schemeClr val="tx1"/>
              </a:solidFill>
            </a:endParaRPr>
          </a:p>
          <a:p>
            <a:pPr indent="0">
              <a:lnSpc>
                <a:spcPct val="120000"/>
              </a:lnSpc>
              <a:buFont typeface="Arial" panose="020B0604020202020204" pitchFamily="34" charset="0"/>
              <a:buNone/>
            </a:pPr>
            <a:r>
              <a:rPr lang="en-US" altLang="en-US">
                <a:solidFill>
                  <a:schemeClr val="accent1">
                    <a:lumMod val="75000"/>
                  </a:schemeClr>
                </a:solidFill>
              </a:rPr>
              <a:t> Snowflake CoWork &amp; CoCo (AI Agents)</a:t>
            </a:r>
            <a:endParaRPr lang="en-US" altLang="en-US">
              <a:solidFill>
                <a:schemeClr val="accent1">
                  <a:lumMod val="75000"/>
                </a:schemeClr>
              </a:solidFill>
            </a:endParaRPr>
          </a:p>
          <a:p>
            <a:pPr indent="0">
              <a:lnSpc>
                <a:spcPct val="120000"/>
              </a:lnSpc>
              <a:buFont typeface="Arial" panose="020B0604020202020204" pitchFamily="34" charset="0"/>
              <a:buNone/>
            </a:pPr>
            <a:endParaRPr lang="en-US" altLang="en-US">
              <a:solidFill>
                <a:schemeClr val="tx1"/>
              </a:solidFill>
            </a:endParaRPr>
          </a:p>
          <a:p>
            <a:pPr marL="285750" indent="-285750">
              <a:lnSpc>
                <a:spcPct val="120000"/>
              </a:lnSpc>
              <a:buFont typeface="Arial" panose="020B0604020202020204" pitchFamily="34" charset="0"/>
              <a:buChar char="•"/>
            </a:pPr>
            <a:r>
              <a:rPr lang="en-US" altLang="en-US">
                <a:solidFill>
                  <a:schemeClr val="tx1"/>
                </a:solidFill>
              </a:rPr>
              <a:t>Snowflake announced 26+ new capabilities at Summit 2026 spanning AI agents and productivity (CoWork, CoCo), context and semantics, security and governance, infrastructure and interoperability, and AI infrastructure.</a:t>
            </a:r>
            <a:endParaRPr lang="en-US" altLang="en-US">
              <a:solidFill>
                <a:schemeClr val="tx1"/>
              </a:solidFill>
            </a:endParaRPr>
          </a:p>
          <a:p>
            <a:pPr marL="285750" indent="-285750">
              <a:lnSpc>
                <a:spcPct val="120000"/>
              </a:lnSpc>
              <a:buFont typeface="Arial" panose="020B0604020202020204" pitchFamily="34" charset="0"/>
              <a:buChar char="•"/>
            </a:pPr>
            <a:r>
              <a:rPr lang="en-US" altLang="en-US">
                <a:solidFill>
                  <a:schemeClr val="tx1"/>
                </a:solidFill>
              </a:rPr>
              <a:t> CoWork is the personal AI agent for knowledge workers, while CoCo (formerly Cortex Code) is a data-native AI coding agent. </a:t>
            </a:r>
            <a:endParaRPr lang="en-US" altLang="en-US">
              <a:solidFill>
                <a:schemeClr val="tx1"/>
              </a:solidFill>
            </a:endParaRPr>
          </a:p>
        </p:txBody>
      </p:sp>
      <p:sp>
        <p:nvSpPr>
          <p:cNvPr id="2" name="Slide Number Placeholder 1"/>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2"/>
            </p:custDataLst>
          </p:nvPr>
        </p:nvPicPr>
        <p:blipFill>
          <a:blip r:embed="rId3"/>
          <a:srcRect t="10715" b="10715"/>
          <a:stretch>
            <a:fillRect/>
          </a:stretch>
        </p:blipFill>
        <p:spPr>
          <a:xfrm>
            <a:off x="9044940" y="5892165"/>
            <a:ext cx="1437005" cy="623570"/>
          </a:xfrm>
        </p:spPr>
      </p:pic>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AI &amp; Cortex Innovations</a:t>
            </a:r>
            <a:endParaRPr lang="en-US" altLang="en-US">
              <a:solidFill>
                <a:schemeClr val="accent1">
                  <a:lumMod val="75000"/>
                </a:schemeClr>
              </a:solidFill>
            </a:endParaRPr>
          </a:p>
        </p:txBody>
      </p:sp>
      <p:sp>
        <p:nvSpPr>
          <p:cNvPr id="5" name="Text Box 4"/>
          <p:cNvSpPr txBox="1"/>
          <p:nvPr/>
        </p:nvSpPr>
        <p:spPr>
          <a:xfrm>
            <a:off x="868680" y="1930400"/>
            <a:ext cx="10292080" cy="2085340"/>
          </a:xfrm>
          <a:prstGeom prst="rect">
            <a:avLst/>
          </a:prstGeom>
          <a:noFill/>
        </p:spPr>
        <p:txBody>
          <a:bodyPr wrap="square" rtlCol="0">
            <a:spAutoFit/>
          </a:bodyPr>
          <a:p>
            <a:pPr indent="0">
              <a:buFont typeface="Arial" panose="020B0604020202020204" pitchFamily="34" charset="0"/>
              <a:buNone/>
            </a:pPr>
            <a:r>
              <a:rPr lang="en-US" altLang="en-US">
                <a:solidFill>
                  <a:schemeClr val="accent1">
                    <a:lumMod val="75000"/>
                  </a:schemeClr>
                </a:solidFill>
              </a:rPr>
              <a:t> Cortex Training</a:t>
            </a:r>
            <a:endParaRPr lang="en-US" altLang="en-US">
              <a:solidFill>
                <a:schemeClr val="accent1">
                  <a:lumMod val="75000"/>
                </a:schemeClr>
              </a:solidFill>
            </a:endParaRPr>
          </a:p>
          <a:p>
            <a:pPr indent="0">
              <a:buFont typeface="Arial" panose="020B0604020202020204" pitchFamily="34" charset="0"/>
              <a:buNone/>
            </a:pPr>
            <a:endParaRPr lang="en-US" altLang="en-US">
              <a:solidFill>
                <a:schemeClr val="accent1">
                  <a:lumMod val="75000"/>
                </a:schemeClr>
              </a:solidFill>
            </a:endParaRPr>
          </a:p>
          <a:p>
            <a:pPr marL="285750" indent="-285750">
              <a:buFont typeface="Arial" panose="020B0604020202020204" pitchFamily="34" charset="0"/>
              <a:buChar char="•"/>
            </a:pPr>
            <a:r>
              <a:rPr lang="en-US" altLang="en-US">
                <a:solidFill>
                  <a:schemeClr val="tx1"/>
                </a:solidFill>
              </a:rPr>
              <a:t>Snowflake introduced 430+ new capabilities in fiscal 2026, including Cortex Code, a cutting-edge AI coding agent</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Along with expanded partnerships with Anthropic, Google Cloud, and OpenAI for native access to leading foundation models.</a:t>
            </a:r>
            <a:endParaRPr lang="en-US" altLang="en-US">
              <a:solidFill>
                <a:schemeClr val="tx1"/>
              </a:solidFill>
            </a:endParaRPr>
          </a:p>
          <a:p>
            <a:pPr marL="285750" indent="-285750">
              <a:lnSpc>
                <a:spcPct val="120000"/>
              </a:lnSpc>
              <a:buFont typeface="Arial" panose="020B0604020202020204" pitchFamily="34" charset="0"/>
              <a:buChar char="•"/>
            </a:pPr>
            <a:endParaRPr lang="en-US" altLang="en-US">
              <a:solidFill>
                <a:schemeClr val="tx1"/>
              </a:solidFill>
            </a:endParaRPr>
          </a:p>
        </p:txBody>
      </p:sp>
      <p:sp>
        <p:nvSpPr>
          <p:cNvPr id="2" name="Slide Number Placeholder 1"/>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2"/>
            </p:custDataLst>
          </p:nvPr>
        </p:nvPicPr>
        <p:blipFill>
          <a:blip r:embed="rId3"/>
          <a:srcRect t="10715" b="10715"/>
          <a:stretch>
            <a:fillRect/>
          </a:stretch>
        </p:blipFill>
        <p:spPr>
          <a:xfrm>
            <a:off x="8693150" y="5408295"/>
            <a:ext cx="2532380" cy="1098550"/>
          </a:xfrm>
        </p:spPr>
      </p:pic>
    </p:spTree>
    <p:custDataLst>
      <p:tags r:id="rId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AI &amp; Cortex Innovations</a:t>
            </a:r>
            <a:endParaRPr lang="en-US" altLang="en-US">
              <a:solidFill>
                <a:schemeClr val="accent1">
                  <a:lumMod val="75000"/>
                </a:schemeClr>
              </a:solidFill>
            </a:endParaRPr>
          </a:p>
        </p:txBody>
      </p:sp>
      <p:pic>
        <p:nvPicPr>
          <p:cNvPr id="2" name="Picture 1"/>
          <p:cNvPicPr>
            <a:picLocks noChangeAspect="1"/>
          </p:cNvPicPr>
          <p:nvPr/>
        </p:nvPicPr>
        <p:blipFill>
          <a:blip r:embed="rId2"/>
          <a:stretch>
            <a:fillRect/>
          </a:stretch>
        </p:blipFill>
        <p:spPr>
          <a:xfrm>
            <a:off x="2905125" y="1313815"/>
            <a:ext cx="6036945" cy="5289550"/>
          </a:xfrm>
          <a:prstGeom prst="rect">
            <a:avLst/>
          </a:prstGeom>
        </p:spPr>
      </p:pic>
      <p:sp>
        <p:nvSpPr>
          <p:cNvPr id="3" name="Slide Number Placeholder 2"/>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3"/>
            </p:custDataLst>
          </p:nvPr>
        </p:nvPicPr>
        <p:blipFill>
          <a:blip r:embed="rId4"/>
          <a:srcRect t="10715" b="10715"/>
          <a:stretch>
            <a:fillRect/>
          </a:stretch>
        </p:blipFill>
        <p:spPr>
          <a:xfrm>
            <a:off x="9320530" y="5800090"/>
            <a:ext cx="1628775" cy="706755"/>
          </a:xfrm>
        </p:spPr>
      </p:pic>
    </p:spTree>
    <p:custDataLst>
      <p:tags r:id="rId5"/>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Streaming &amp; Real-Time Features</a:t>
            </a:r>
            <a:endParaRPr lang="en-US" altLang="en-US">
              <a:solidFill>
                <a:schemeClr val="accent1">
                  <a:lumMod val="75000"/>
                </a:schemeClr>
              </a:solidFill>
            </a:endParaRPr>
          </a:p>
        </p:txBody>
      </p:sp>
      <p:sp>
        <p:nvSpPr>
          <p:cNvPr id="5" name="Text Box 4"/>
          <p:cNvSpPr txBox="1"/>
          <p:nvPr/>
        </p:nvSpPr>
        <p:spPr>
          <a:xfrm>
            <a:off x="868680" y="1930400"/>
            <a:ext cx="10292080" cy="1753235"/>
          </a:xfrm>
          <a:prstGeom prst="rect">
            <a:avLst/>
          </a:prstGeom>
          <a:noFill/>
        </p:spPr>
        <p:txBody>
          <a:bodyPr wrap="square" rtlCol="0">
            <a:spAutoFit/>
          </a:bodyPr>
          <a:p>
            <a:pPr indent="0">
              <a:buFont typeface="Arial" panose="020B0604020202020204" pitchFamily="34" charset="0"/>
              <a:buNone/>
            </a:pPr>
            <a:r>
              <a:rPr lang="en-US" altLang="en-US">
                <a:solidFill>
                  <a:schemeClr val="accent1">
                    <a:lumMod val="75000"/>
                  </a:schemeClr>
                </a:solidFill>
              </a:rPr>
              <a:t>Snowpipe</a:t>
            </a:r>
            <a:endParaRPr lang="en-US" altLang="en-US">
              <a:solidFill>
                <a:schemeClr val="accent1">
                  <a:lumMod val="75000"/>
                </a:schemeClr>
              </a:solidFill>
            </a:endParaRPr>
          </a:p>
          <a:p>
            <a:pPr indent="0">
              <a:buFont typeface="Arial" panose="020B0604020202020204" pitchFamily="34" charset="0"/>
              <a:buNone/>
            </a:pPr>
            <a:endParaRPr lang="en-US" altLang="en-US">
              <a:solidFill>
                <a:schemeClr val="accent1">
                  <a:lumMod val="75000"/>
                </a:schemeClr>
              </a:solidFill>
            </a:endParaRPr>
          </a:p>
          <a:p>
            <a:pPr marL="285750" indent="-285750">
              <a:buFont typeface="Arial" panose="020B0604020202020204" pitchFamily="34" charset="0"/>
              <a:buChar char="•"/>
            </a:pPr>
            <a:r>
              <a:rPr lang="en-US" altLang="en-US">
                <a:solidFill>
                  <a:schemeClr val="tx1"/>
                </a:solidFill>
              </a:rPr>
              <a:t>Snowpipe enables loading data from files as soon as they’re available in a stage. </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This means you can load data from files in micro-batches, making it available to users within minutes.</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Rather than manually executing COPY statements on a schedule to load larger batches.</a:t>
            </a:r>
            <a:endParaRPr lang="en-US" altLang="en-US">
              <a:solidFill>
                <a:schemeClr val="tx1"/>
              </a:solidFill>
            </a:endParaRPr>
          </a:p>
        </p:txBody>
      </p:sp>
      <p:sp>
        <p:nvSpPr>
          <p:cNvPr id="2" name="Slide Number Placeholder 1"/>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2"/>
            </p:custDataLst>
          </p:nvPr>
        </p:nvPicPr>
        <p:blipFill>
          <a:blip r:embed="rId3"/>
          <a:srcRect t="10715" b="10715"/>
          <a:stretch>
            <a:fillRect/>
          </a:stretch>
        </p:blipFill>
        <p:spPr>
          <a:xfrm>
            <a:off x="8731250" y="5408295"/>
            <a:ext cx="2532380" cy="1098550"/>
          </a:xfrm>
        </p:spPr>
      </p:pic>
    </p:spTree>
    <p:custDataLst>
      <p:tags r:id="rId4"/>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Streaming &amp; Real-Time Features</a:t>
            </a:r>
            <a:endParaRPr lang="en-US" altLang="en-US">
              <a:solidFill>
                <a:schemeClr val="accent1">
                  <a:lumMod val="75000"/>
                </a:schemeClr>
              </a:solidFill>
            </a:endParaRPr>
          </a:p>
        </p:txBody>
      </p:sp>
      <p:sp>
        <p:nvSpPr>
          <p:cNvPr id="5" name="Text Box 4"/>
          <p:cNvSpPr txBox="1"/>
          <p:nvPr/>
        </p:nvSpPr>
        <p:spPr>
          <a:xfrm>
            <a:off x="868680" y="1930400"/>
            <a:ext cx="10292080" cy="3969385"/>
          </a:xfrm>
          <a:prstGeom prst="rect">
            <a:avLst/>
          </a:prstGeom>
          <a:noFill/>
        </p:spPr>
        <p:txBody>
          <a:bodyPr wrap="square" rtlCol="0">
            <a:spAutoFit/>
          </a:bodyPr>
          <a:p>
            <a:pPr indent="0">
              <a:buFont typeface="Arial" panose="020B0604020202020204" pitchFamily="34" charset="0"/>
              <a:buNone/>
            </a:pPr>
            <a:r>
              <a:rPr lang="en-US" altLang="en-US">
                <a:solidFill>
                  <a:schemeClr val="accent1">
                    <a:lumMod val="75000"/>
                  </a:schemeClr>
                </a:solidFill>
              </a:rPr>
              <a:t>Snowpipe Streaming</a:t>
            </a:r>
            <a:endParaRPr lang="en-US" altLang="en-US">
              <a:solidFill>
                <a:schemeClr val="accent1">
                  <a:lumMod val="75000"/>
                </a:schemeClr>
              </a:solidFill>
            </a:endParaRPr>
          </a:p>
          <a:p>
            <a:pPr indent="0">
              <a:buFont typeface="Arial" panose="020B0604020202020204" pitchFamily="34" charset="0"/>
              <a:buNone/>
            </a:pPr>
            <a:endParaRPr lang="en-US" altLang="en-US">
              <a:solidFill>
                <a:schemeClr val="accent1">
                  <a:lumMod val="75000"/>
                </a:schemeClr>
              </a:solidFill>
            </a:endParaRPr>
          </a:p>
          <a:p>
            <a:pPr marL="285750" indent="-285750">
              <a:buFont typeface="Arial" panose="020B0604020202020204" pitchFamily="34" charset="0"/>
              <a:buChar char="•"/>
            </a:pPr>
            <a:r>
              <a:rPr lang="en-US" altLang="en-US">
                <a:solidFill>
                  <a:schemeClr val="tx1"/>
                </a:solidFill>
              </a:rPr>
              <a:t>Snowpipe Streaming is Snowflake’s real-time ingestion service built on the high-performance architecture.</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It enables applications to load streaming data directly into Snowflake tables as rows arrive, without staging files or managing intermediate storage. </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Data becomes available for query within seconds of ingestion, supporting use cases from IoT telemetry and Change Data Capture (CDC) pipelines to fraud detection and live analytics.</a:t>
            </a:r>
            <a:endParaRPr lang="en-US" altLang="en-US">
              <a:solidFill>
                <a:schemeClr val="tx1"/>
              </a:solidFill>
            </a:endParaRPr>
          </a:p>
          <a:p>
            <a:pPr marL="285750" indent="-285750">
              <a:buFont typeface="Arial" panose="020B0604020202020204" pitchFamily="34" charset="0"/>
              <a:buChar char="•"/>
            </a:pP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Up to 10 GB/s throughput per table</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As low as 5 second end-to-end ingest-to-query latency</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Exactly-once delivery through built-in offset token tracking</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Ordered ingestion within each channel</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Streaming into Snowflake-managed Apache Iceberg tables</a:t>
            </a:r>
            <a:endParaRPr lang="en-US" altLang="en-US">
              <a:solidFill>
                <a:schemeClr val="tx1"/>
              </a:solidFill>
            </a:endParaRPr>
          </a:p>
        </p:txBody>
      </p:sp>
      <p:sp>
        <p:nvSpPr>
          <p:cNvPr id="2" name="Slide Number Placeholder 1"/>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2"/>
            </p:custDataLst>
          </p:nvPr>
        </p:nvPicPr>
        <p:blipFill>
          <a:blip r:embed="rId3"/>
          <a:srcRect t="10715" b="10715"/>
          <a:stretch>
            <a:fillRect/>
          </a:stretch>
        </p:blipFill>
        <p:spPr>
          <a:xfrm>
            <a:off x="9044940" y="5672455"/>
            <a:ext cx="1924050" cy="834390"/>
          </a:xfrm>
        </p:spPr>
      </p:pic>
    </p:spTree>
    <p:custDataLst>
      <p:tags r:id="rId4"/>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Security &amp; Governance</a:t>
            </a:r>
            <a:endParaRPr lang="en-US" altLang="en-US">
              <a:solidFill>
                <a:schemeClr val="accent1">
                  <a:lumMod val="75000"/>
                </a:schemeClr>
              </a:solidFill>
            </a:endParaRPr>
          </a:p>
        </p:txBody>
      </p:sp>
      <p:sp>
        <p:nvSpPr>
          <p:cNvPr id="5" name="Text Box 4"/>
          <p:cNvSpPr txBox="1"/>
          <p:nvPr/>
        </p:nvSpPr>
        <p:spPr>
          <a:xfrm>
            <a:off x="868680" y="1930400"/>
            <a:ext cx="10292080" cy="3138170"/>
          </a:xfrm>
          <a:prstGeom prst="rect">
            <a:avLst/>
          </a:prstGeom>
          <a:noFill/>
        </p:spPr>
        <p:txBody>
          <a:bodyPr wrap="square" rtlCol="0">
            <a:spAutoFit/>
          </a:bodyPr>
          <a:p>
            <a:pPr indent="0">
              <a:buFont typeface="Arial" panose="020B0604020202020204" pitchFamily="34" charset="0"/>
              <a:buNone/>
            </a:pPr>
            <a:r>
              <a:rPr lang="en-US" altLang="en-US">
                <a:solidFill>
                  <a:schemeClr val="accent1">
                    <a:lumMod val="75000"/>
                  </a:schemeClr>
                </a:solidFill>
              </a:rPr>
              <a:t>AI Guardrails &amp; Agent Identity</a:t>
            </a:r>
            <a:endParaRPr lang="en-US" altLang="en-US">
              <a:solidFill>
                <a:schemeClr val="accent1">
                  <a:lumMod val="75000"/>
                </a:schemeClr>
              </a:solidFill>
            </a:endParaRPr>
          </a:p>
          <a:p>
            <a:pPr indent="0">
              <a:buFont typeface="Arial" panose="020B0604020202020204" pitchFamily="34" charset="0"/>
              <a:buNone/>
            </a:pPr>
            <a:endParaRPr lang="en-US" altLang="en-US">
              <a:solidFill>
                <a:schemeClr val="accent1">
                  <a:lumMod val="75000"/>
                </a:schemeClr>
              </a:solidFill>
            </a:endParaRPr>
          </a:p>
          <a:p>
            <a:pPr indent="0">
              <a:buFont typeface="Arial" panose="020B0604020202020204" pitchFamily="34" charset="0"/>
              <a:buNone/>
            </a:pPr>
            <a:r>
              <a:rPr lang="en-US" altLang="en-US">
                <a:solidFill>
                  <a:schemeClr val="tx1"/>
                </a:solidFill>
              </a:rPr>
              <a:t>Snowflake announced agent identity (so you can tell when activity is happening in an agentic context and apply different policies), data movement policies, multi-party approvals for sensitive operations, and AI guardrails for CoCo and CoWork. SQLYARD</a:t>
            </a:r>
            <a:endParaRPr lang="en-US" altLang="en-US">
              <a:solidFill>
                <a:schemeClr val="tx1"/>
              </a:solidFill>
            </a:endParaRPr>
          </a:p>
          <a:p>
            <a:pPr indent="0">
              <a:buFont typeface="Arial" panose="020B0604020202020204" pitchFamily="34" charset="0"/>
              <a:buNone/>
            </a:pPr>
            <a:endParaRPr lang="en-US" altLang="en-US">
              <a:solidFill>
                <a:schemeClr val="accent1">
                  <a:lumMod val="75000"/>
                </a:schemeClr>
              </a:solidFill>
            </a:endParaRPr>
          </a:p>
          <a:p>
            <a:pPr indent="0">
              <a:buFont typeface="Arial" panose="020B0604020202020204" pitchFamily="34" charset="0"/>
              <a:buNone/>
            </a:pPr>
            <a:r>
              <a:rPr lang="en-US" altLang="en-US">
                <a:solidFill>
                  <a:schemeClr val="accent1">
                    <a:lumMod val="75000"/>
                  </a:schemeClr>
                </a:solidFill>
              </a:rPr>
              <a:t>Natoma Acquisition (MCP Governance)</a:t>
            </a:r>
            <a:endParaRPr lang="en-US" altLang="en-US">
              <a:solidFill>
                <a:schemeClr val="accent1">
                  <a:lumMod val="75000"/>
                </a:schemeClr>
              </a:solidFill>
            </a:endParaRPr>
          </a:p>
          <a:p>
            <a:pPr indent="0">
              <a:buFont typeface="Arial" panose="020B0604020202020204" pitchFamily="34" charset="0"/>
              <a:buNone/>
            </a:pPr>
            <a:endParaRPr lang="en-US" altLang="en-US">
              <a:solidFill>
                <a:schemeClr val="accent1">
                  <a:lumMod val="75000"/>
                </a:schemeClr>
              </a:solidFill>
            </a:endParaRPr>
          </a:p>
          <a:p>
            <a:pPr algn="l">
              <a:buClrTx/>
              <a:buSzTx/>
              <a:buFont typeface="Arial" panose="020B0604020202020204" pitchFamily="34" charset="0"/>
              <a:buNone/>
            </a:pPr>
            <a:r>
              <a:rPr lang="en-US" altLang="en-US"/>
              <a:t>Snowflake announced its intent to acquire Natoma, an enterprise MCP platform that provides a centralized MCP gateway enforcing identity verification, access policies, and audit controls at the tool-call level — governing what actions AI agents can take.</a:t>
            </a:r>
            <a:endParaRPr lang="en-US" altLang="en-US"/>
          </a:p>
        </p:txBody>
      </p:sp>
      <p:sp>
        <p:nvSpPr>
          <p:cNvPr id="2" name="Slide Number Placeholder 1"/>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2"/>
            </p:custDataLst>
          </p:nvPr>
        </p:nvPicPr>
        <p:blipFill>
          <a:blip r:embed="rId3"/>
          <a:srcRect t="10715" b="10715"/>
          <a:stretch>
            <a:fillRect/>
          </a:stretch>
        </p:blipFill>
        <p:spPr>
          <a:xfrm>
            <a:off x="9044940" y="5651500"/>
            <a:ext cx="1971675" cy="855345"/>
          </a:xfrm>
        </p:spPr>
      </p:pic>
    </p:spTree>
    <p:custDataLst>
      <p:tags r:id="rId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Open Lakehouse &amp; Apache Iceberg Support</a:t>
            </a:r>
            <a:endParaRPr lang="en-US" altLang="en-US">
              <a:solidFill>
                <a:schemeClr val="accent1">
                  <a:lumMod val="75000"/>
                </a:schemeClr>
              </a:solidFill>
            </a:endParaRPr>
          </a:p>
        </p:txBody>
      </p:sp>
      <p:sp>
        <p:nvSpPr>
          <p:cNvPr id="5" name="Text Box 4"/>
          <p:cNvSpPr txBox="1"/>
          <p:nvPr/>
        </p:nvSpPr>
        <p:spPr>
          <a:xfrm>
            <a:off x="868680" y="1930400"/>
            <a:ext cx="10292080" cy="2584450"/>
          </a:xfrm>
          <a:prstGeom prst="rect">
            <a:avLst/>
          </a:prstGeom>
          <a:noFill/>
        </p:spPr>
        <p:txBody>
          <a:bodyPr wrap="square" rtlCol="0">
            <a:spAutoFit/>
          </a:bodyPr>
          <a:p>
            <a:pPr marL="285750" indent="-285750">
              <a:buFont typeface="Arial" panose="020B0604020202020204" pitchFamily="34" charset="0"/>
              <a:buChar char="•"/>
            </a:pPr>
            <a:r>
              <a:rPr lang="en-US" altLang="en-US">
                <a:solidFill>
                  <a:schemeClr val="tx1"/>
                </a:solidFill>
              </a:rPr>
              <a:t>Snowflake's Open Lakehouse story is built around one core idea: your data files live in your cloud storage bucket (S3, GCS, or ADLS), in open Parquet format, governed by the Apache Iceberg spec — and Snowflake treats them as first-class tables.</a:t>
            </a:r>
            <a:endParaRPr lang="en-US" altLang="en-US">
              <a:solidFill>
                <a:schemeClr val="tx1"/>
              </a:solidFill>
            </a:endParaRPr>
          </a:p>
          <a:p>
            <a:pPr marL="285750" indent="-285750">
              <a:buFont typeface="Arial" panose="020B0604020202020204" pitchFamily="34" charset="0"/>
              <a:buChar char="•"/>
            </a:pP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The Iceberg format itself has three layers: Parquet data files at the bottom, JSON manifest/snapshot metadata files in the middle, and a catalog pointer at the top that tracks which snapshot is "current." Any engine that speaks Iceberg can read all three layers without touching Snowflake.</a:t>
            </a:r>
            <a:endParaRPr lang="en-US" altLang="en-US">
              <a:solidFill>
                <a:schemeClr val="tx1"/>
              </a:solidFill>
            </a:endParaRPr>
          </a:p>
          <a:p>
            <a:pPr indent="0">
              <a:buFont typeface="Arial" panose="020B0604020202020204" pitchFamily="34" charset="0"/>
              <a:buNone/>
            </a:pPr>
            <a:endParaRPr lang="en-US" altLang="en-US">
              <a:solidFill>
                <a:schemeClr val="tx1"/>
              </a:solidFill>
            </a:endParaRPr>
          </a:p>
        </p:txBody>
      </p:sp>
      <p:sp>
        <p:nvSpPr>
          <p:cNvPr id="2" name="Slide Number Placeholder 1"/>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2"/>
            </p:custDataLst>
          </p:nvPr>
        </p:nvPicPr>
        <p:blipFill>
          <a:blip r:embed="rId3"/>
          <a:srcRect t="10715" b="10715"/>
          <a:stretch>
            <a:fillRect/>
          </a:stretch>
        </p:blipFill>
        <p:spPr>
          <a:xfrm>
            <a:off x="8521700" y="5618480"/>
            <a:ext cx="2047875" cy="888365"/>
          </a:xfrm>
        </p:spPr>
      </p:pic>
    </p:spTree>
    <p:custDataLst>
      <p:tags r:id="rId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Open Lakehouse &amp; Apache Iceberg Support</a:t>
            </a:r>
            <a:endParaRPr lang="en-US" altLang="en-US">
              <a:solidFill>
                <a:schemeClr val="accent1">
                  <a:lumMod val="75000"/>
                </a:schemeClr>
              </a:solidFill>
            </a:endParaRPr>
          </a:p>
        </p:txBody>
      </p:sp>
      <p:sp>
        <p:nvSpPr>
          <p:cNvPr id="5" name="Text Box 4"/>
          <p:cNvSpPr txBox="1"/>
          <p:nvPr/>
        </p:nvSpPr>
        <p:spPr>
          <a:xfrm>
            <a:off x="868680" y="1930400"/>
            <a:ext cx="10292080" cy="3969385"/>
          </a:xfrm>
          <a:prstGeom prst="rect">
            <a:avLst/>
          </a:prstGeom>
          <a:noFill/>
        </p:spPr>
        <p:txBody>
          <a:bodyPr wrap="square" rtlCol="0">
            <a:spAutoFit/>
          </a:bodyPr>
          <a:p>
            <a:pPr marL="285750" indent="-285750">
              <a:buFont typeface="Arial" panose="020B0604020202020204" pitchFamily="34" charset="0"/>
              <a:buChar char="•"/>
            </a:pPr>
            <a:r>
              <a:rPr lang="en-US" altLang="en-US">
                <a:solidFill>
                  <a:schemeClr val="tx1"/>
                </a:solidFill>
              </a:rPr>
              <a:t>Two usage modes let you pick who drives writes:</a:t>
            </a:r>
            <a:endParaRPr lang="en-US" altLang="en-US">
              <a:solidFill>
                <a:schemeClr val="tx1"/>
              </a:solidFill>
            </a:endParaRPr>
          </a:p>
          <a:p>
            <a:pPr marL="285750" indent="-285750">
              <a:buFont typeface="Arial" panose="020B0604020202020204" pitchFamily="34" charset="0"/>
              <a:buChar char="•"/>
            </a:pP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Snowflake-managed Iceberg tables — Snowflake writes the Parquet and metadata to your bucket. You get full DML (INSERT, UPDATE, DELETE, MERGE), ACID transactions, time travel, and auto-clustering. Other engines (Spark, Trino, Flink) can read the same files directly.</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External Iceberg tables — Snowflake reads files that another engine wrote. You get full SQL query capability with predicate and projection pushdown. You periodically call ALTER ICEBERG TABLE … REFRESH to sync Snowflake's view to the latest Iceberg snapshot.</a:t>
            </a:r>
            <a:endParaRPr lang="en-US" altLang="en-US">
              <a:solidFill>
                <a:schemeClr val="tx1"/>
              </a:solidFill>
            </a:endParaRPr>
          </a:p>
          <a:p>
            <a:pPr marL="285750" indent="-285750">
              <a:buFont typeface="Arial" panose="020B0604020202020204" pitchFamily="34" charset="0"/>
              <a:buChar char="•"/>
            </a:pP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Catalog integrations mean Snowflake isn't opinionated about where table metadata lives. It can act as the catalog itself (backed by Polaris, Snowflake's open-source catalog), or connect to AWS Glue, Databricks Unity Catalog, Apache Polaris, Project Nessie, or any REST-compatible Iceberg catalog.</a:t>
            </a:r>
            <a:endParaRPr lang="en-US" altLang="en-US">
              <a:solidFill>
                <a:schemeClr val="tx1"/>
              </a:solidFill>
            </a:endParaRPr>
          </a:p>
          <a:p>
            <a:pPr indent="0">
              <a:buFont typeface="Arial" panose="020B0604020202020204" pitchFamily="34" charset="0"/>
              <a:buNone/>
            </a:pPr>
            <a:endParaRPr lang="en-US" altLang="en-US">
              <a:solidFill>
                <a:schemeClr val="tx1"/>
              </a:solidFill>
            </a:endParaRPr>
          </a:p>
        </p:txBody>
      </p:sp>
      <p:sp>
        <p:nvSpPr>
          <p:cNvPr id="2" name="Slide Number Placeholder 1"/>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2"/>
            </p:custDataLst>
          </p:nvPr>
        </p:nvPicPr>
        <p:blipFill>
          <a:blip r:embed="rId3"/>
          <a:srcRect t="10715" b="10715"/>
          <a:stretch>
            <a:fillRect/>
          </a:stretch>
        </p:blipFill>
        <p:spPr>
          <a:xfrm>
            <a:off x="9044940" y="5701665"/>
            <a:ext cx="1856740" cy="805180"/>
          </a:xfrm>
        </p:spPr>
      </p:pic>
    </p:spTree>
    <p:custDataLst>
      <p:tags r:id="rId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Open Lakehouse &amp; Apache Iceberg Support</a:t>
            </a:r>
            <a:endParaRPr lang="en-US" altLang="en-US">
              <a:solidFill>
                <a:schemeClr val="accent1">
                  <a:lumMod val="75000"/>
                </a:schemeClr>
              </a:solidFill>
            </a:endParaRPr>
          </a:p>
        </p:txBody>
      </p:sp>
      <p:pic>
        <p:nvPicPr>
          <p:cNvPr id="8" name="Content Placeholder 7"/>
          <p:cNvPicPr>
            <a:picLocks noChangeAspect="1"/>
          </p:cNvPicPr>
          <p:nvPr>
            <p:ph idx="1"/>
            <p:custDataLst>
              <p:tags r:id="rId2"/>
            </p:custDataLst>
          </p:nvPr>
        </p:nvPicPr>
        <p:blipFill>
          <a:blip r:embed="rId3"/>
          <a:stretch>
            <a:fillRect/>
          </a:stretch>
        </p:blipFill>
        <p:spPr>
          <a:xfrm>
            <a:off x="3479165" y="1490345"/>
            <a:ext cx="5483225" cy="4993005"/>
          </a:xfrm>
          <a:prstGeom prst="rect">
            <a:avLst/>
          </a:prstGeom>
        </p:spPr>
      </p:pic>
      <p:sp>
        <p:nvSpPr>
          <p:cNvPr id="9" name="Slide Number Placeholder 8"/>
          <p:cNvSpPr>
            <a:spLocks noGrp="1"/>
          </p:cNvSpPr>
          <p:nvPr>
            <p:ph type="sldNum" sz="quarter" idx="12"/>
          </p:nvPr>
        </p:nvSpPr>
        <p:spPr/>
        <p:txBody>
          <a:bodyPr/>
          <a:p>
            <a:fld id="{49AE70B2-8BF9-45C0-BB95-33D1B9D3A854}" type="slidenum">
              <a:rPr lang="en-US" smtClean="0"/>
            </a:fld>
            <a:endParaRPr lang="en-US"/>
          </a:p>
        </p:txBody>
      </p:sp>
      <p:pic>
        <p:nvPicPr>
          <p:cNvPr id="10" name="Content Placeholder 6"/>
          <p:cNvPicPr>
            <a:picLocks noChangeAspect="1"/>
          </p:cNvPicPr>
          <p:nvPr>
            <p:custDataLst>
              <p:tags r:id="rId4"/>
            </p:custDataLst>
          </p:nvPr>
        </p:nvPicPr>
        <p:blipFill>
          <a:blip r:embed="rId5"/>
          <a:srcRect t="10715" b="10715"/>
          <a:stretch>
            <a:fillRect/>
          </a:stretch>
        </p:blipFill>
        <p:spPr>
          <a:xfrm>
            <a:off x="9044940" y="5730240"/>
            <a:ext cx="1790700" cy="776605"/>
          </a:xfrm>
          <a:prstGeom prst="rect">
            <a:avLst/>
          </a:prstGeom>
        </p:spPr>
      </p:pic>
    </p:spTree>
    <p:custDataLst>
      <p:tags r:id="rId6"/>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Container &amp; App Development Features</a:t>
            </a:r>
            <a:endParaRPr lang="en-US" altLang="en-US">
              <a:solidFill>
                <a:schemeClr val="accent1">
                  <a:lumMod val="75000"/>
                </a:schemeClr>
              </a:solidFill>
            </a:endParaRPr>
          </a:p>
        </p:txBody>
      </p:sp>
      <p:sp>
        <p:nvSpPr>
          <p:cNvPr id="5" name="Text Box 4"/>
          <p:cNvSpPr txBox="1"/>
          <p:nvPr/>
        </p:nvSpPr>
        <p:spPr>
          <a:xfrm>
            <a:off x="868680" y="1930400"/>
            <a:ext cx="10292080" cy="1753235"/>
          </a:xfrm>
          <a:prstGeom prst="rect">
            <a:avLst/>
          </a:prstGeom>
          <a:noFill/>
        </p:spPr>
        <p:txBody>
          <a:bodyPr wrap="square" rtlCol="0">
            <a:spAutoFit/>
          </a:bodyPr>
          <a:p>
            <a:pPr marL="285750" indent="-285750">
              <a:buFont typeface="Arial" panose="020B0604020202020204" pitchFamily="34" charset="0"/>
              <a:buChar char="•"/>
            </a:pPr>
            <a:r>
              <a:rPr lang="en-US" altLang="en-US">
                <a:sym typeface="+mn-ea"/>
              </a:rPr>
              <a:t>Everything — containers, apps, UDFs, Streamlit — is governed by the same RBAC model and observable through event tables, and deployable via CI/CD using SnowCLI.</a:t>
            </a:r>
            <a:r>
              <a:rPr lang="zh-CN" altLang="en-US">
                <a:sym typeface="+mn-ea"/>
              </a:rPr>
              <a:t></a:t>
            </a:r>
            <a:endParaRPr lang="zh-CN" altLang="en-US">
              <a:solidFill>
                <a:schemeClr val="tx1"/>
              </a:solidFill>
            </a:endParaRPr>
          </a:p>
          <a:p>
            <a:pPr indent="0">
              <a:buFont typeface="Arial" panose="020B0604020202020204" pitchFamily="34" charset="0"/>
              <a:buNone/>
            </a:pPr>
            <a:endParaRPr lang="zh-CN" altLang="en-US">
              <a:solidFill>
                <a:schemeClr val="tx1"/>
              </a:solidFill>
            </a:endParaRPr>
          </a:p>
          <a:p>
            <a:pPr marL="285750" indent="-285750">
              <a:buFont typeface="Arial" panose="020B0604020202020204" pitchFamily="34" charset="0"/>
              <a:buChar char="•"/>
            </a:pPr>
            <a:r>
              <a:rPr lang="en-US" altLang="en-US">
                <a:solidFill>
                  <a:schemeClr val="tx1"/>
                </a:solidFill>
              </a:rPr>
              <a:t>Four layers make up Snowflake's app development platform:</a:t>
            </a:r>
            <a:endParaRPr lang="en-US" altLang="en-US">
              <a:solidFill>
                <a:schemeClr val="tx1"/>
              </a:solidFill>
            </a:endParaRPr>
          </a:p>
          <a:p>
            <a:pPr marL="285750" indent="-285750">
              <a:buFont typeface="Arial" panose="020B0604020202020204" pitchFamily="34" charset="0"/>
              <a:buChar char="•"/>
            </a:pP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Snowpark Container Services (SPCS) is the infrastructure foundation. </a:t>
            </a:r>
            <a:endParaRPr lang="zh-CN" altLang="en-US">
              <a:solidFill>
                <a:schemeClr val="tx1"/>
              </a:solidFill>
            </a:endParaRPr>
          </a:p>
        </p:txBody>
      </p:sp>
      <p:sp>
        <p:nvSpPr>
          <p:cNvPr id="2" name="Text Box 1"/>
          <p:cNvSpPr txBox="1"/>
          <p:nvPr/>
        </p:nvSpPr>
        <p:spPr>
          <a:xfrm>
            <a:off x="2065020" y="3767455"/>
            <a:ext cx="8313420" cy="2584450"/>
          </a:xfrm>
          <a:prstGeom prst="rect">
            <a:avLst/>
          </a:prstGeom>
          <a:noFill/>
        </p:spPr>
        <p:txBody>
          <a:bodyPr wrap="square" rtlCol="0">
            <a:spAutoFit/>
          </a:bodyPr>
          <a:p>
            <a:pPr marL="285750" indent="-285750">
              <a:buFont typeface="Arial" panose="020B0604020202020204" pitchFamily="34" charset="0"/>
              <a:buChar char="•"/>
            </a:pPr>
            <a:r>
              <a:rPr lang="en-US" altLang="en-US">
                <a:sym typeface="+mn-ea"/>
              </a:rPr>
              <a:t>You push any Docker image to Snowflake's image registry and run it on managed compute pools — CPU for general workloads, GPU nodes (up to A10G / A100) for ML inference and training. </a:t>
            </a:r>
            <a:endParaRPr lang="en-US" altLang="en-US">
              <a:sym typeface="+mn-ea"/>
            </a:endParaRPr>
          </a:p>
          <a:p>
            <a:pPr marL="285750" indent="-285750">
              <a:buFont typeface="Arial" panose="020B0604020202020204" pitchFamily="34" charset="0"/>
              <a:buChar char="•"/>
            </a:pPr>
            <a:r>
              <a:rPr lang="en-US" altLang="en-US">
                <a:sym typeface="+mn-ea"/>
              </a:rPr>
              <a:t>Two execution modes: services are long-running containers (REST APIs, model servers, dashboards) with Snowflake-managed health checks and automatic restarts; jobs are batch/one-shot containers triggered by SQL or Tasks, useful for training runs or heavy data processing. </a:t>
            </a:r>
            <a:endParaRPr lang="en-US" altLang="en-US">
              <a:sym typeface="+mn-ea"/>
            </a:endParaRPr>
          </a:p>
          <a:p>
            <a:pPr marL="285750" indent="-285750">
              <a:buFont typeface="Arial" panose="020B0604020202020204" pitchFamily="34" charset="0"/>
              <a:buChar char="•"/>
            </a:pPr>
            <a:r>
              <a:rPr lang="en-US" altLang="en-US">
                <a:sym typeface="+mn-ea"/>
              </a:rPr>
              <a:t>Logs stream to an event table so you can query them with SQL.</a:t>
            </a:r>
            <a:endParaRPr lang="en-US" altLang="en-US">
              <a:solidFill>
                <a:schemeClr val="tx1"/>
              </a:solidFill>
            </a:endParaRPr>
          </a:p>
          <a:p>
            <a:endParaRPr lang="en-US"/>
          </a:p>
        </p:txBody>
      </p:sp>
      <p:sp>
        <p:nvSpPr>
          <p:cNvPr id="3" name="Slide Number Placeholder 2"/>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2"/>
            </p:custDataLst>
          </p:nvPr>
        </p:nvPicPr>
        <p:blipFill>
          <a:blip r:embed="rId3"/>
          <a:srcRect t="10715" b="10715"/>
          <a:stretch>
            <a:fillRect/>
          </a:stretch>
        </p:blipFill>
        <p:spPr>
          <a:xfrm>
            <a:off x="9044940" y="5701665"/>
            <a:ext cx="1856740" cy="805180"/>
          </a:xfrm>
        </p:spPr>
      </p:pic>
    </p:spTree>
    <p:custDataLst>
      <p:tags r:id="rId4"/>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Container &amp; App Development Features</a:t>
            </a:r>
            <a:endParaRPr lang="en-US" altLang="en-US">
              <a:solidFill>
                <a:schemeClr val="accent1">
                  <a:lumMod val="75000"/>
                </a:schemeClr>
              </a:solidFill>
            </a:endParaRPr>
          </a:p>
        </p:txBody>
      </p:sp>
      <p:sp>
        <p:nvSpPr>
          <p:cNvPr id="5" name="Text Box 4"/>
          <p:cNvSpPr txBox="1"/>
          <p:nvPr/>
        </p:nvSpPr>
        <p:spPr>
          <a:xfrm>
            <a:off x="868680" y="1930400"/>
            <a:ext cx="10292080" cy="368300"/>
          </a:xfrm>
          <a:prstGeom prst="rect">
            <a:avLst/>
          </a:prstGeom>
          <a:noFill/>
        </p:spPr>
        <p:txBody>
          <a:bodyPr wrap="square" rtlCol="0">
            <a:spAutoFit/>
          </a:bodyPr>
          <a:p>
            <a:pPr marL="285750" indent="-285750">
              <a:buFont typeface="Arial" panose="020B0604020202020204" pitchFamily="34" charset="0"/>
              <a:buChar char="•"/>
            </a:pPr>
            <a:r>
              <a:rPr lang="en-US" altLang="en-US">
                <a:solidFill>
                  <a:schemeClr val="tx1"/>
                </a:solidFill>
              </a:rPr>
              <a:t>Native Apps Framework is the distribution layer. </a:t>
            </a:r>
            <a:endParaRPr lang="zh-CN" altLang="en-US">
              <a:solidFill>
                <a:schemeClr val="tx1"/>
              </a:solidFill>
            </a:endParaRPr>
          </a:p>
        </p:txBody>
      </p:sp>
      <p:sp>
        <p:nvSpPr>
          <p:cNvPr id="2" name="Text Box 1"/>
          <p:cNvSpPr txBox="1"/>
          <p:nvPr/>
        </p:nvSpPr>
        <p:spPr>
          <a:xfrm>
            <a:off x="2319020" y="2595880"/>
            <a:ext cx="8087360" cy="2030095"/>
          </a:xfrm>
          <a:prstGeom prst="rect">
            <a:avLst/>
          </a:prstGeom>
          <a:noFill/>
        </p:spPr>
        <p:txBody>
          <a:bodyPr wrap="square" rtlCol="0">
            <a:spAutoFit/>
          </a:bodyPr>
          <a:p>
            <a:pPr marL="285750" indent="-285750">
              <a:buFont typeface="Arial" panose="020B0604020202020204" pitchFamily="34" charset="0"/>
              <a:buChar char="•"/>
            </a:pPr>
            <a:r>
              <a:rPr lang="en-US" altLang="en-US">
                <a:sym typeface="+mn-ea"/>
              </a:rPr>
              <a:t>You bundle SQL objects, Streamlit UIs, SPCS services, and Python UDFs into a versioned application package, list it on the Snowflake Marketplace, and consumers install it into their own account with one click.</a:t>
            </a:r>
            <a:endParaRPr lang="en-US" altLang="en-US">
              <a:sym typeface="+mn-ea"/>
            </a:endParaRPr>
          </a:p>
          <a:p>
            <a:pPr marL="285750" indent="-285750">
              <a:buFont typeface="Arial" panose="020B0604020202020204" pitchFamily="34" charset="0"/>
              <a:buChar char="•"/>
            </a:pPr>
            <a:r>
              <a:rPr lang="en-US" altLang="en-US">
                <a:sym typeface="+mn-ea"/>
              </a:rPr>
              <a:t> The key governance property: the consumer's data never leaves their account, and the provider's proprietary logic is never exposed — each side sees only what they're meant to see.</a:t>
            </a:r>
            <a:endParaRPr lang="en-US" altLang="en-US">
              <a:solidFill>
                <a:schemeClr val="tx1"/>
              </a:solidFill>
            </a:endParaRPr>
          </a:p>
          <a:p>
            <a:endParaRPr lang="en-US"/>
          </a:p>
        </p:txBody>
      </p:sp>
      <p:sp>
        <p:nvSpPr>
          <p:cNvPr id="3" name="Slide Number Placeholder 2"/>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2"/>
            </p:custDataLst>
          </p:nvPr>
        </p:nvPicPr>
        <p:blipFill>
          <a:blip r:embed="rId3"/>
          <a:srcRect t="10715" b="10715"/>
          <a:stretch>
            <a:fillRect/>
          </a:stretch>
        </p:blipFill>
        <p:spPr>
          <a:xfrm>
            <a:off x="9044940" y="5701665"/>
            <a:ext cx="1856740" cy="805180"/>
          </a:xfrm>
        </p:spPr>
      </p:pic>
    </p:spTree>
    <p:custDataLst>
      <p:tags r:id="rId4"/>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Container &amp; App Development Features</a:t>
            </a:r>
            <a:endParaRPr lang="en-US" altLang="en-US">
              <a:solidFill>
                <a:schemeClr val="accent1">
                  <a:lumMod val="75000"/>
                </a:schemeClr>
              </a:solidFill>
            </a:endParaRPr>
          </a:p>
        </p:txBody>
      </p:sp>
      <p:sp>
        <p:nvSpPr>
          <p:cNvPr id="5" name="Text Box 4"/>
          <p:cNvSpPr txBox="1"/>
          <p:nvPr/>
        </p:nvSpPr>
        <p:spPr>
          <a:xfrm>
            <a:off x="868680" y="1930400"/>
            <a:ext cx="10292080" cy="368300"/>
          </a:xfrm>
          <a:prstGeom prst="rect">
            <a:avLst/>
          </a:prstGeom>
          <a:noFill/>
        </p:spPr>
        <p:txBody>
          <a:bodyPr wrap="square" rtlCol="0">
            <a:spAutoFit/>
          </a:bodyPr>
          <a:p>
            <a:pPr marL="285750" indent="-285750">
              <a:buFont typeface="Arial" panose="020B0604020202020204" pitchFamily="34" charset="0"/>
              <a:buChar char="•"/>
            </a:pPr>
            <a:r>
              <a:rPr lang="en-US" altLang="en-US">
                <a:solidFill>
                  <a:schemeClr val="tx1"/>
                </a:solidFill>
              </a:rPr>
              <a:t>Streamlit in Snowflake gives you Python data apps without any web hosting. </a:t>
            </a:r>
            <a:endParaRPr lang="zh-CN" altLang="en-US">
              <a:solidFill>
                <a:schemeClr val="tx1"/>
              </a:solidFill>
            </a:endParaRPr>
          </a:p>
        </p:txBody>
      </p:sp>
      <p:sp>
        <p:nvSpPr>
          <p:cNvPr id="2" name="Text Box 1"/>
          <p:cNvSpPr txBox="1"/>
          <p:nvPr/>
        </p:nvSpPr>
        <p:spPr>
          <a:xfrm>
            <a:off x="2157095" y="2453640"/>
            <a:ext cx="8437245" cy="1753235"/>
          </a:xfrm>
          <a:prstGeom prst="rect">
            <a:avLst/>
          </a:prstGeom>
          <a:noFill/>
        </p:spPr>
        <p:txBody>
          <a:bodyPr wrap="square" rtlCol="0">
            <a:spAutoFit/>
          </a:bodyPr>
          <a:p>
            <a:pPr marL="285750" indent="-285750">
              <a:buFont typeface="Arial" panose="020B0604020202020204" pitchFamily="34" charset="0"/>
              <a:buChar char="•"/>
            </a:pPr>
            <a:r>
              <a:rPr lang="en-US" altLang="en-US">
                <a:sym typeface="+mn-ea"/>
              </a:rPr>
              <a:t>You write Streamlit code in the Snowsight browser IDE, and the app connects to Snowflake using the caller's RBAC identity automatically — no connection strings, no secrets. </a:t>
            </a:r>
            <a:endParaRPr lang="en-US" altLang="en-US">
              <a:sym typeface="+mn-ea"/>
            </a:endParaRPr>
          </a:p>
          <a:p>
            <a:pPr marL="285750" indent="-285750">
              <a:buFont typeface="Arial" panose="020B0604020202020204" pitchFamily="34" charset="0"/>
              <a:buChar char="•"/>
            </a:pPr>
            <a:r>
              <a:rPr lang="en-US" altLang="en-US">
                <a:sym typeface="+mn-ea"/>
              </a:rPr>
              <a:t>Apps can be shared to specific roles within an account, or embedded directly inside a Native App as the UI layer.</a:t>
            </a:r>
            <a:endParaRPr lang="en-US" altLang="en-US">
              <a:solidFill>
                <a:schemeClr val="tx1"/>
              </a:solidFill>
            </a:endParaRPr>
          </a:p>
          <a:p>
            <a:endParaRPr lang="en-US"/>
          </a:p>
        </p:txBody>
      </p:sp>
      <p:sp>
        <p:nvSpPr>
          <p:cNvPr id="3" name="Slide Number Placeholder 2"/>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2"/>
            </p:custDataLst>
          </p:nvPr>
        </p:nvPicPr>
        <p:blipFill>
          <a:blip r:embed="rId3"/>
          <a:srcRect t="10715" b="10715"/>
          <a:stretch>
            <a:fillRect/>
          </a:stretch>
        </p:blipFill>
        <p:spPr>
          <a:xfrm>
            <a:off x="9044940" y="5701665"/>
            <a:ext cx="1856740" cy="805180"/>
          </a:xfrm>
        </p:spPr>
      </p:pic>
    </p:spTree>
    <p:custDataLst>
      <p:tags r:id="rId4"/>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Container &amp; App Development Features</a:t>
            </a:r>
            <a:endParaRPr lang="en-US" altLang="en-US">
              <a:solidFill>
                <a:schemeClr val="accent1">
                  <a:lumMod val="75000"/>
                </a:schemeClr>
              </a:solidFill>
            </a:endParaRPr>
          </a:p>
        </p:txBody>
      </p:sp>
      <p:sp>
        <p:nvSpPr>
          <p:cNvPr id="5" name="Text Box 4"/>
          <p:cNvSpPr txBox="1"/>
          <p:nvPr/>
        </p:nvSpPr>
        <p:spPr>
          <a:xfrm>
            <a:off x="868680" y="1930400"/>
            <a:ext cx="10292080" cy="368300"/>
          </a:xfrm>
          <a:prstGeom prst="rect">
            <a:avLst/>
          </a:prstGeom>
          <a:noFill/>
        </p:spPr>
        <p:txBody>
          <a:bodyPr wrap="square" rtlCol="0">
            <a:spAutoFit/>
          </a:bodyPr>
          <a:p>
            <a:pPr marL="285750" indent="-285750">
              <a:buFont typeface="Arial" panose="020B0604020202020204" pitchFamily="34" charset="0"/>
              <a:buChar char="•"/>
            </a:pPr>
            <a:r>
              <a:rPr lang="en-US" altLang="en-US">
                <a:solidFill>
                  <a:schemeClr val="tx1"/>
                </a:solidFill>
              </a:rPr>
              <a:t>Extensibility primitives let you push custom logic into the SQL engine itself. </a:t>
            </a:r>
            <a:endParaRPr lang="zh-CN" altLang="en-US">
              <a:solidFill>
                <a:schemeClr val="tx1"/>
              </a:solidFill>
            </a:endParaRPr>
          </a:p>
        </p:txBody>
      </p:sp>
      <p:sp>
        <p:nvSpPr>
          <p:cNvPr id="2" name="Text Box 1"/>
          <p:cNvSpPr txBox="1"/>
          <p:nvPr/>
        </p:nvSpPr>
        <p:spPr>
          <a:xfrm>
            <a:off x="1967230" y="2643505"/>
            <a:ext cx="8503285" cy="2306955"/>
          </a:xfrm>
          <a:prstGeom prst="rect">
            <a:avLst/>
          </a:prstGeom>
          <a:noFill/>
        </p:spPr>
        <p:txBody>
          <a:bodyPr wrap="square" rtlCol="0">
            <a:spAutoFit/>
          </a:bodyPr>
          <a:p>
            <a:pPr marL="285750" indent="-285750">
              <a:buFont typeface="Arial" panose="020B0604020202020204" pitchFamily="34" charset="0"/>
              <a:buChar char="•"/>
            </a:pPr>
            <a:r>
              <a:rPr lang="en-US" altLang="en-US">
                <a:sym typeface="+mn-ea"/>
              </a:rPr>
              <a:t>UDFs handle scalar transformations (Python, Java, Scala, JS, SQL). </a:t>
            </a:r>
            <a:endParaRPr lang="en-US" altLang="en-US">
              <a:sym typeface="+mn-ea"/>
            </a:endParaRPr>
          </a:p>
          <a:p>
            <a:pPr marL="285750" indent="-285750">
              <a:buFont typeface="Arial" panose="020B0604020202020204" pitchFamily="34" charset="0"/>
              <a:buChar char="•"/>
            </a:pPr>
            <a:r>
              <a:rPr lang="en-US" altLang="en-US">
                <a:sym typeface="+mn-ea"/>
              </a:rPr>
              <a:t>UDTFs return rows — useful for parsing, exploding, or generating data. </a:t>
            </a:r>
            <a:endParaRPr lang="en-US" altLang="en-US">
              <a:sym typeface="+mn-ea"/>
            </a:endParaRPr>
          </a:p>
          <a:p>
            <a:pPr marL="285750" indent="-285750">
              <a:buFont typeface="Arial" panose="020B0604020202020204" pitchFamily="34" charset="0"/>
              <a:buChar char="•"/>
            </a:pPr>
            <a:r>
              <a:rPr lang="en-US" altLang="en-US">
                <a:sym typeface="+mn-ea"/>
              </a:rPr>
              <a:t>Stored procedures expose the full Snowpark DataFrame API for complex procedural logic. </a:t>
            </a:r>
            <a:endParaRPr lang="en-US" altLang="en-US">
              <a:sym typeface="+mn-ea"/>
            </a:endParaRPr>
          </a:p>
          <a:p>
            <a:pPr marL="285750" indent="-285750">
              <a:buFont typeface="Arial" panose="020B0604020202020204" pitchFamily="34" charset="0"/>
              <a:buChar char="•"/>
            </a:pPr>
            <a:r>
              <a:rPr lang="en-US" altLang="en-US">
                <a:sym typeface="+mn-ea"/>
              </a:rPr>
              <a:t>Service functions are the newest primitive: they let you call an SPCS HTTP endpoint directly from a SQL expression, which is how you embed a custom ML model or external API into a query without leaving Snowflake.</a:t>
            </a:r>
            <a:endParaRPr lang="en-US" altLang="en-US">
              <a:solidFill>
                <a:schemeClr val="tx1"/>
              </a:solidFill>
            </a:endParaRPr>
          </a:p>
          <a:p>
            <a:endParaRPr lang="en-US"/>
          </a:p>
        </p:txBody>
      </p:sp>
      <p:sp>
        <p:nvSpPr>
          <p:cNvPr id="3" name="Slide Number Placeholder 2"/>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2"/>
            </p:custDataLst>
          </p:nvPr>
        </p:nvPicPr>
        <p:blipFill>
          <a:blip r:embed="rId3"/>
          <a:srcRect t="10715" b="10715"/>
          <a:stretch>
            <a:fillRect/>
          </a:stretch>
        </p:blipFill>
        <p:spPr>
          <a:xfrm>
            <a:off x="9044940" y="5701665"/>
            <a:ext cx="1856740" cy="805180"/>
          </a:xfrm>
        </p:spPr>
      </p:pic>
    </p:spTree>
    <p:custDataLst>
      <p:tags r:id="rId4"/>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Container &amp; App Development Features</a:t>
            </a:r>
            <a:endParaRPr lang="en-US" altLang="en-US">
              <a:solidFill>
                <a:schemeClr val="accent1">
                  <a:lumMod val="75000"/>
                </a:schemeClr>
              </a:solidFill>
            </a:endParaRPr>
          </a:p>
        </p:txBody>
      </p:sp>
      <p:pic>
        <p:nvPicPr>
          <p:cNvPr id="7" name="Content Placeholder 6"/>
          <p:cNvPicPr>
            <a:picLocks noChangeAspect="1"/>
          </p:cNvPicPr>
          <p:nvPr>
            <p:ph idx="1"/>
            <p:custDataLst>
              <p:tags r:id="rId2"/>
            </p:custDataLst>
          </p:nvPr>
        </p:nvPicPr>
        <p:blipFill>
          <a:blip r:embed="rId3"/>
          <a:stretch>
            <a:fillRect/>
          </a:stretch>
        </p:blipFill>
        <p:spPr>
          <a:xfrm>
            <a:off x="3703955" y="1490345"/>
            <a:ext cx="4777105" cy="4759325"/>
          </a:xfrm>
          <a:prstGeom prst="rect">
            <a:avLst/>
          </a:prstGeom>
        </p:spPr>
      </p:pic>
      <p:sp>
        <p:nvSpPr>
          <p:cNvPr id="8" name="Slide Number Placeholder 7"/>
          <p:cNvSpPr>
            <a:spLocks noGrp="1"/>
          </p:cNvSpPr>
          <p:nvPr>
            <p:ph type="sldNum" sz="quarter" idx="12"/>
          </p:nvPr>
        </p:nvSpPr>
        <p:spPr/>
        <p:txBody>
          <a:bodyPr/>
          <a:p>
            <a:fld id="{49AE70B2-8BF9-45C0-BB95-33D1B9D3A854}" type="slidenum">
              <a:rPr lang="en-US" smtClean="0"/>
            </a:fld>
            <a:endParaRPr lang="en-US"/>
          </a:p>
        </p:txBody>
      </p:sp>
      <p:pic>
        <p:nvPicPr>
          <p:cNvPr id="9" name="Content Placeholder 6"/>
          <p:cNvPicPr>
            <a:picLocks noChangeAspect="1"/>
          </p:cNvPicPr>
          <p:nvPr>
            <p:custDataLst>
              <p:tags r:id="rId4"/>
            </p:custDataLst>
          </p:nvPr>
        </p:nvPicPr>
        <p:blipFill>
          <a:blip r:embed="rId5"/>
          <a:srcRect t="10715" b="10715"/>
          <a:stretch>
            <a:fillRect/>
          </a:stretch>
        </p:blipFill>
        <p:spPr>
          <a:xfrm>
            <a:off x="9044940" y="5750560"/>
            <a:ext cx="1743710" cy="756285"/>
          </a:xfrm>
          <a:prstGeom prst="rect">
            <a:avLst/>
          </a:prstGeom>
        </p:spPr>
      </p:pic>
    </p:spTree>
    <p:custDataLst>
      <p:tags r:id="rId6"/>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Advanced Analytics &amp; ML</a:t>
            </a:r>
            <a:endParaRPr lang="en-US" altLang="en-US">
              <a:solidFill>
                <a:schemeClr val="accent1">
                  <a:lumMod val="75000"/>
                </a:schemeClr>
              </a:solidFill>
            </a:endParaRPr>
          </a:p>
        </p:txBody>
      </p:sp>
      <p:sp>
        <p:nvSpPr>
          <p:cNvPr id="5" name="Text Box 4"/>
          <p:cNvSpPr txBox="1"/>
          <p:nvPr/>
        </p:nvSpPr>
        <p:spPr>
          <a:xfrm>
            <a:off x="868680" y="1930400"/>
            <a:ext cx="10292080" cy="2861310"/>
          </a:xfrm>
          <a:prstGeom prst="rect">
            <a:avLst/>
          </a:prstGeom>
          <a:noFill/>
        </p:spPr>
        <p:txBody>
          <a:bodyPr wrap="square" rtlCol="0">
            <a:spAutoFit/>
          </a:bodyPr>
          <a:p>
            <a:pPr indent="0">
              <a:buNone/>
            </a:pPr>
            <a:r>
              <a:rPr lang="en-US" altLang="en-US">
                <a:solidFill>
                  <a:schemeClr val="tx1"/>
                </a:solidFill>
              </a:rPr>
              <a:t>Feature Store solves the training/serving skew problem — </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The gap between features used in training and features computed at inference time. </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You define entities (the join key, e.g. user_id) and feature views (the SQL or Snowpark logic that computes features). </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Views are versioned Snowflake objects, kept fresh via Dynamic Tables on a schedule you control. </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At training time, generate_training_set() produces a point-in-time correct dataset — it joins features to labels as they existed at the label timestamp, preventing future leakage. </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At inference time, retrieve_feature_values() fetches the same features for live scoring, guaranteeing consistency.</a:t>
            </a:r>
            <a:endParaRPr lang="en-US" altLang="en-US">
              <a:solidFill>
                <a:schemeClr val="tx1"/>
              </a:solidFill>
            </a:endParaRPr>
          </a:p>
          <a:p>
            <a:pPr marL="285750" indent="-285750">
              <a:buFont typeface="Arial" panose="020B0604020202020204" pitchFamily="34" charset="0"/>
              <a:buChar char="•"/>
            </a:pPr>
            <a:endParaRPr lang="en-US" altLang="en-US">
              <a:solidFill>
                <a:schemeClr val="tx1"/>
              </a:solidFill>
            </a:endParaRPr>
          </a:p>
        </p:txBody>
      </p:sp>
      <p:sp>
        <p:nvSpPr>
          <p:cNvPr id="3" name="Slide Number Placeholder 2"/>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2"/>
            </p:custDataLst>
          </p:nvPr>
        </p:nvPicPr>
        <p:blipFill>
          <a:blip r:embed="rId3"/>
          <a:srcRect t="10715" b="10715"/>
          <a:stretch>
            <a:fillRect/>
          </a:stretch>
        </p:blipFill>
        <p:spPr>
          <a:xfrm>
            <a:off x="9044940" y="5701665"/>
            <a:ext cx="1856740" cy="805180"/>
          </a:xfrm>
        </p:spPr>
      </p:pic>
    </p:spTree>
    <p:custDataLst>
      <p:tags r:id="rId4"/>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Advanced Analytics &amp; ML</a:t>
            </a:r>
            <a:endParaRPr lang="en-US" altLang="en-US">
              <a:solidFill>
                <a:schemeClr val="accent1">
                  <a:lumMod val="75000"/>
                </a:schemeClr>
              </a:solidFill>
            </a:endParaRPr>
          </a:p>
        </p:txBody>
      </p:sp>
      <p:sp>
        <p:nvSpPr>
          <p:cNvPr id="5" name="Text Box 4"/>
          <p:cNvSpPr txBox="1"/>
          <p:nvPr/>
        </p:nvSpPr>
        <p:spPr>
          <a:xfrm>
            <a:off x="868680" y="1930400"/>
            <a:ext cx="10292080" cy="2306955"/>
          </a:xfrm>
          <a:prstGeom prst="rect">
            <a:avLst/>
          </a:prstGeom>
          <a:noFill/>
        </p:spPr>
        <p:txBody>
          <a:bodyPr wrap="square" rtlCol="0">
            <a:spAutoFit/>
          </a:bodyPr>
          <a:p>
            <a:pPr indent="0">
              <a:buNone/>
            </a:pPr>
            <a:r>
              <a:rPr lang="en-US" altLang="en-US">
                <a:solidFill>
                  <a:schemeClr val="tx1"/>
                </a:solidFill>
              </a:rPr>
              <a:t>Vector data support gives embeddings a home inside Snowflake's columnar engine. </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The native VECTOR(FLOAT, N) type stores up to 4096-dimensional vectors with compression, alongside three distance functions: cosine similarity, L2 distance, and inner product. A full RAG pipeline fits in pure SQL: EMBED_TEXT → store as VECTOR column → rank by similarity → pipe top-K chunks into COMPLETE. </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Cortex Search is a managed service on top of this for production retrieval without hand-rolling the index.</a:t>
            </a:r>
            <a:endParaRPr lang="en-US" altLang="en-US">
              <a:solidFill>
                <a:schemeClr val="tx1"/>
              </a:solidFill>
            </a:endParaRPr>
          </a:p>
          <a:p>
            <a:pPr marL="285750" indent="-285750">
              <a:buFont typeface="Arial" panose="020B0604020202020204" pitchFamily="34" charset="0"/>
              <a:buChar char="•"/>
            </a:pPr>
            <a:endParaRPr lang="en-US" altLang="en-US">
              <a:solidFill>
                <a:schemeClr val="tx1"/>
              </a:solidFill>
            </a:endParaRPr>
          </a:p>
        </p:txBody>
      </p:sp>
      <p:sp>
        <p:nvSpPr>
          <p:cNvPr id="2" name="Slide Number Placeholder 1"/>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2"/>
            </p:custDataLst>
          </p:nvPr>
        </p:nvPicPr>
        <p:blipFill>
          <a:blip r:embed="rId3"/>
          <a:srcRect t="10715" b="10715"/>
          <a:stretch>
            <a:fillRect/>
          </a:stretch>
        </p:blipFill>
        <p:spPr>
          <a:xfrm>
            <a:off x="9044940" y="5701665"/>
            <a:ext cx="1856740" cy="805180"/>
          </a:xfrm>
        </p:spPr>
      </p:pic>
    </p:spTree>
    <p:custDataLst>
      <p:tags r:id="rId4"/>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Advanced Analytics &amp; ML</a:t>
            </a:r>
            <a:endParaRPr lang="en-US" altLang="en-US">
              <a:solidFill>
                <a:schemeClr val="accent1">
                  <a:lumMod val="75000"/>
                </a:schemeClr>
              </a:solidFill>
            </a:endParaRPr>
          </a:p>
        </p:txBody>
      </p:sp>
      <p:sp>
        <p:nvSpPr>
          <p:cNvPr id="5" name="Text Box 4"/>
          <p:cNvSpPr txBox="1"/>
          <p:nvPr/>
        </p:nvSpPr>
        <p:spPr>
          <a:xfrm>
            <a:off x="868680" y="1930400"/>
            <a:ext cx="10292080" cy="4246245"/>
          </a:xfrm>
          <a:prstGeom prst="rect">
            <a:avLst/>
          </a:prstGeom>
          <a:noFill/>
        </p:spPr>
        <p:txBody>
          <a:bodyPr wrap="square" rtlCol="0">
            <a:spAutoFit/>
          </a:bodyPr>
          <a:p>
            <a:pPr indent="0">
              <a:buNone/>
            </a:pPr>
            <a:r>
              <a:rPr lang="en-US" altLang="en-US">
                <a:solidFill>
                  <a:schemeClr val="tx1"/>
                </a:solidFill>
              </a:rPr>
              <a:t>Model Registry is where trained models land after experimentation. </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You log any framework (scikit-learn, XGBoost, PyTorch, Hugging Face, MLflow-compatible) with metrics, parameters, and tags that are stored as first-class Snowflake objects — queryable via SQL</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Deployment is a one-line call: models can be deployed as warehouse-based UDFs for batch scoring (SELECT model!PREDICT(features)), or as SPCS services for low-latency real-time inference. </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No external model server to provision or maintain.</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Semantic Views are a metadata layer that attaches business meaning to physical tables — defining metrics (revenue, DAU), dimensions (region, product line), valid join paths, and plain-English synonyms for column names. This layer is what Cortex Analyst reads when it interprets a natural language question: instead of guessing table structure from a prompt, the model reasons against the semantic definition you've already validated. BI tools like Tableau, Power BI, and Sigma can also consume semantic views, making it a true single source of metric truth across both AI and human-driven analytics.</a:t>
            </a:r>
            <a:endParaRPr lang="en-US" altLang="en-US">
              <a:solidFill>
                <a:schemeClr val="tx1"/>
              </a:solidFill>
            </a:endParaRPr>
          </a:p>
        </p:txBody>
      </p:sp>
      <p:sp>
        <p:nvSpPr>
          <p:cNvPr id="2" name="Slide Number Placeholder 1"/>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2"/>
            </p:custDataLst>
          </p:nvPr>
        </p:nvPicPr>
        <p:blipFill>
          <a:blip r:embed="rId3"/>
          <a:srcRect t="10715" b="10715"/>
          <a:stretch>
            <a:fillRect/>
          </a:stretch>
        </p:blipFill>
        <p:spPr>
          <a:xfrm>
            <a:off x="9044940" y="5788025"/>
            <a:ext cx="1657985" cy="718820"/>
          </a:xfrm>
        </p:spPr>
      </p:pic>
    </p:spTree>
    <p:custDataLst>
      <p:tags r:id="rId4"/>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Advanced Analytics &amp; ML</a:t>
            </a:r>
            <a:endParaRPr lang="en-US" altLang="en-US">
              <a:solidFill>
                <a:schemeClr val="accent1">
                  <a:lumMod val="75000"/>
                </a:schemeClr>
              </a:solidFill>
            </a:endParaRPr>
          </a:p>
        </p:txBody>
      </p:sp>
      <p:sp>
        <p:nvSpPr>
          <p:cNvPr id="5" name="Text Box 4"/>
          <p:cNvSpPr txBox="1"/>
          <p:nvPr/>
        </p:nvSpPr>
        <p:spPr>
          <a:xfrm>
            <a:off x="868680" y="1930400"/>
            <a:ext cx="10292080" cy="2030095"/>
          </a:xfrm>
          <a:prstGeom prst="rect">
            <a:avLst/>
          </a:prstGeom>
          <a:noFill/>
        </p:spPr>
        <p:txBody>
          <a:bodyPr wrap="square" rtlCol="0">
            <a:spAutoFit/>
          </a:bodyPr>
          <a:p>
            <a:pPr indent="0">
              <a:buNone/>
            </a:pPr>
            <a:r>
              <a:rPr lang="en-US" altLang="en-US">
                <a:solidFill>
                  <a:schemeClr val="tx1"/>
                </a:solidFill>
              </a:rPr>
              <a:t>Semantic Views are a metadata layer that attaches business meaning to physical tables — </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Defining metrics (revenue, DAU), dimensions (region, product line), valid join paths, and plain-English synonyms for column names. </a:t>
            </a:r>
            <a:endParaRPr lang="en-US" altLang="en-US">
              <a:solidFill>
                <a:schemeClr val="tx1"/>
              </a:solidFill>
            </a:endParaRPr>
          </a:p>
          <a:p>
            <a:pPr marL="285750" indent="-285750">
              <a:buFont typeface="Arial" panose="020B0604020202020204" pitchFamily="34" charset="0"/>
              <a:buChar char="•"/>
            </a:pPr>
            <a:r>
              <a:rPr lang="en-US" altLang="en-US">
                <a:solidFill>
                  <a:schemeClr val="tx1"/>
                </a:solidFill>
              </a:rPr>
              <a:t>This layer is what Cortex Analyst reads when it interprets a natural language question: instead of guessing table structure from a prompt, the model reasons against the semantic definition you've already validated. BI tools like Tableau, Power BI, and Sigma can also consume semantic views, making it a true single source of metric truth across both AI and human-driven analytics.</a:t>
            </a:r>
            <a:endParaRPr lang="en-US" altLang="en-US">
              <a:solidFill>
                <a:schemeClr val="tx1"/>
              </a:solidFill>
            </a:endParaRPr>
          </a:p>
        </p:txBody>
      </p:sp>
      <p:sp>
        <p:nvSpPr>
          <p:cNvPr id="2" name="Slide Number Placeholder 1"/>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2"/>
            </p:custDataLst>
          </p:nvPr>
        </p:nvPicPr>
        <p:blipFill>
          <a:blip r:embed="rId3"/>
          <a:srcRect t="10715" b="10715"/>
          <a:stretch>
            <a:fillRect/>
          </a:stretch>
        </p:blipFill>
        <p:spPr>
          <a:xfrm>
            <a:off x="9044940" y="5701665"/>
            <a:ext cx="1856740" cy="805180"/>
          </a:xfrm>
        </p:spPr>
      </p:pic>
    </p:spTree>
    <p:custDataLst>
      <p:tags r:id="rId4"/>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Advanced Analytics &amp; ML</a:t>
            </a:r>
            <a:endParaRPr lang="en-US" altLang="en-US">
              <a:solidFill>
                <a:schemeClr val="accent1">
                  <a:lumMod val="75000"/>
                </a:schemeClr>
              </a:solidFill>
            </a:endParaRPr>
          </a:p>
        </p:txBody>
      </p:sp>
      <p:pic>
        <p:nvPicPr>
          <p:cNvPr id="6" name="Content Placeholder 5"/>
          <p:cNvPicPr>
            <a:picLocks noChangeAspect="1"/>
          </p:cNvPicPr>
          <p:nvPr>
            <p:ph idx="1"/>
            <p:custDataLst>
              <p:tags r:id="rId2"/>
            </p:custDataLst>
          </p:nvPr>
        </p:nvPicPr>
        <p:blipFill>
          <a:blip r:embed="rId3"/>
          <a:stretch>
            <a:fillRect/>
          </a:stretch>
        </p:blipFill>
        <p:spPr>
          <a:xfrm>
            <a:off x="4111625" y="1490345"/>
            <a:ext cx="3961765" cy="4759325"/>
          </a:xfrm>
          <a:prstGeom prst="rect">
            <a:avLst/>
          </a:prstGeom>
        </p:spPr>
      </p:pic>
      <p:sp>
        <p:nvSpPr>
          <p:cNvPr id="7" name="Slide Number Placeholder 6"/>
          <p:cNvSpPr>
            <a:spLocks noGrp="1"/>
          </p:cNvSpPr>
          <p:nvPr>
            <p:ph type="sldNum" sz="quarter" idx="12"/>
          </p:nvPr>
        </p:nvSpPr>
        <p:spPr/>
        <p:txBody>
          <a:bodyPr/>
          <a:p>
            <a:fld id="{49AE70B2-8BF9-45C0-BB95-33D1B9D3A854}" type="slidenum">
              <a:rPr lang="en-US" smtClean="0"/>
            </a:fld>
            <a:endParaRPr lang="en-US"/>
          </a:p>
        </p:txBody>
      </p:sp>
      <p:pic>
        <p:nvPicPr>
          <p:cNvPr id="8" name="Content Placeholder 6"/>
          <p:cNvPicPr>
            <a:picLocks noChangeAspect="1"/>
          </p:cNvPicPr>
          <p:nvPr>
            <p:custDataLst>
              <p:tags r:id="rId4"/>
            </p:custDataLst>
          </p:nvPr>
        </p:nvPicPr>
        <p:blipFill>
          <a:blip r:embed="rId5"/>
          <a:srcRect t="10715" b="10715"/>
          <a:stretch>
            <a:fillRect/>
          </a:stretch>
        </p:blipFill>
        <p:spPr>
          <a:xfrm>
            <a:off x="9044940" y="5701665"/>
            <a:ext cx="1856740" cy="805180"/>
          </a:xfrm>
          <a:prstGeom prst="rect">
            <a:avLst/>
          </a:prstGeom>
        </p:spPr>
      </p:pic>
    </p:spTree>
    <p:custDataLst>
      <p:tags r:id="rId6"/>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 Collaboration &amp; Marketplace</a:t>
            </a:r>
            <a:endParaRPr lang="en-US" altLang="en-US">
              <a:solidFill>
                <a:schemeClr val="accent1">
                  <a:lumMod val="75000"/>
                </a:schemeClr>
              </a:solidFill>
            </a:endParaRPr>
          </a:p>
        </p:txBody>
      </p:sp>
      <p:sp>
        <p:nvSpPr>
          <p:cNvPr id="5" name="Text Box 4"/>
          <p:cNvSpPr txBox="1"/>
          <p:nvPr/>
        </p:nvSpPr>
        <p:spPr>
          <a:xfrm>
            <a:off x="757555" y="1661795"/>
            <a:ext cx="10203815" cy="3692525"/>
          </a:xfrm>
          <a:prstGeom prst="rect">
            <a:avLst/>
          </a:prstGeom>
          <a:noFill/>
        </p:spPr>
        <p:txBody>
          <a:bodyPr wrap="square" rtlCol="0">
            <a:spAutoFit/>
          </a:bodyPr>
          <a:p>
            <a:r>
              <a:rPr lang="en-US" altLang="en-US"/>
              <a:t>Snowflake's collaboration model is built on one architectural principle: data never moves. Sharing is a metadata operation — the consumer's warehouse queries the provider's storage directly, in real time.</a:t>
            </a:r>
            <a:endParaRPr lang="en-US" altLang="en-US"/>
          </a:p>
          <a:p>
            <a:endParaRPr lang="en-US" altLang="en-US">
              <a:solidFill>
                <a:schemeClr val="accent1">
                  <a:lumMod val="75000"/>
                </a:schemeClr>
              </a:solidFill>
            </a:endParaRPr>
          </a:p>
          <a:p>
            <a:r>
              <a:rPr lang="en-US" altLang="en-US">
                <a:solidFill>
                  <a:schemeClr val="accent1">
                    <a:lumMod val="75000"/>
                  </a:schemeClr>
                </a:solidFill>
              </a:rPr>
              <a:t>Secure Data Sharing is the foundation</a:t>
            </a:r>
            <a:r>
              <a:rPr lang="en-US" altLang="en-US"/>
              <a:t>. </a:t>
            </a:r>
            <a:endParaRPr lang="en-US" altLang="en-US"/>
          </a:p>
          <a:p>
            <a:pPr marL="285750" indent="-285750">
              <a:buFont typeface="Arial" panose="020B0604020202020204" pitchFamily="34" charset="0"/>
              <a:buChar char="•"/>
            </a:pPr>
            <a:r>
              <a:rPr lang="en-US" altLang="en-US"/>
              <a:t>A provider creates a Share object and adds tables, secure views, UDFs, or Iceberg tables to it.</a:t>
            </a:r>
            <a:endParaRPr lang="en-US" altLang="en-US"/>
          </a:p>
          <a:p>
            <a:pPr marL="285750" indent="-285750">
              <a:buFont typeface="Arial" panose="020B0604020202020204" pitchFamily="34" charset="0"/>
              <a:buChar char="•"/>
            </a:pPr>
            <a:r>
              <a:rPr lang="en-US" altLang="en-US"/>
              <a:t>The consumer creates a read-only database from that Share in their own account — it looks and queries exactly like a local database, but the data lives entirely in the provider's storage. </a:t>
            </a:r>
            <a:endParaRPr lang="en-US" altLang="en-US"/>
          </a:p>
          <a:p>
            <a:pPr marL="285750" indent="-285750">
              <a:buFont typeface="Arial" panose="020B0604020202020204" pitchFamily="34" charset="0"/>
              <a:buChar char="•"/>
            </a:pPr>
            <a:r>
              <a:rPr lang="en-US" altLang="en-US"/>
              <a:t>Cross-cloud and cross-region shares are supported via Snowflake's internal replication layer.</a:t>
            </a:r>
            <a:endParaRPr lang="en-US" altLang="en-US"/>
          </a:p>
          <a:p>
            <a:pPr marL="285750" indent="-285750">
              <a:buFont typeface="Arial" panose="020B0604020202020204" pitchFamily="34" charset="0"/>
              <a:buChar char="•"/>
            </a:pPr>
            <a:r>
              <a:rPr lang="en-US" altLang="en-US"/>
              <a:t>The cost split is clean: the provider pays for storage, the consumer pays for the compute they use to query it.</a:t>
            </a:r>
            <a:endParaRPr lang="en-US" altLang="en-US"/>
          </a:p>
          <a:p>
            <a:r>
              <a:rPr lang="zh-CN" altLang="en-US"/>
              <a:t></a:t>
            </a:r>
            <a:endParaRPr lang="zh-CN" altLang="en-US"/>
          </a:p>
          <a:p>
            <a:endParaRPr lang="en-US"/>
          </a:p>
        </p:txBody>
      </p:sp>
      <p:sp>
        <p:nvSpPr>
          <p:cNvPr id="2" name="Slide Number Placeholder 1"/>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2"/>
            </p:custDataLst>
          </p:nvPr>
        </p:nvPicPr>
        <p:blipFill>
          <a:blip r:embed="rId3"/>
          <a:srcRect t="10715" b="10715"/>
          <a:stretch>
            <a:fillRect/>
          </a:stretch>
        </p:blipFill>
        <p:spPr>
          <a:xfrm>
            <a:off x="9044940" y="5701665"/>
            <a:ext cx="1856740" cy="805180"/>
          </a:xfrm>
        </p:spPr>
      </p:pic>
    </p:spTree>
    <p:custDataLst>
      <p:tags r:id="rId4"/>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 Collaboration &amp; Marketplace</a:t>
            </a:r>
            <a:endParaRPr lang="en-US" altLang="en-US">
              <a:solidFill>
                <a:schemeClr val="accent1">
                  <a:lumMod val="75000"/>
                </a:schemeClr>
              </a:solidFill>
            </a:endParaRPr>
          </a:p>
        </p:txBody>
      </p:sp>
      <p:sp>
        <p:nvSpPr>
          <p:cNvPr id="5" name="Text Box 4"/>
          <p:cNvSpPr txBox="1"/>
          <p:nvPr/>
        </p:nvSpPr>
        <p:spPr>
          <a:xfrm>
            <a:off x="823595" y="1728470"/>
            <a:ext cx="10203815" cy="2584450"/>
          </a:xfrm>
          <a:prstGeom prst="rect">
            <a:avLst/>
          </a:prstGeom>
          <a:noFill/>
        </p:spPr>
        <p:txBody>
          <a:bodyPr wrap="square" rtlCol="0">
            <a:spAutoFit/>
          </a:bodyPr>
          <a:p>
            <a:r>
              <a:rPr lang="en-US" altLang="en-US">
                <a:solidFill>
                  <a:schemeClr val="accent1">
                    <a:lumMod val="75000"/>
                  </a:schemeClr>
                </a:solidFill>
              </a:rPr>
              <a:t>Snowflake Marketplace</a:t>
            </a:r>
            <a:r>
              <a:rPr lang="en-US" altLang="en-US"/>
              <a:t> is the distribution channel built on top of sharing. </a:t>
            </a:r>
            <a:endParaRPr lang="en-US" altLang="en-US"/>
          </a:p>
          <a:p>
            <a:pPr marL="285750" indent="-285750">
              <a:buFont typeface="Arial" panose="020B0604020202020204" pitchFamily="34" charset="0"/>
              <a:buChar char="•"/>
            </a:pPr>
            <a:r>
              <a:rPr lang="en-US" altLang="en-US"/>
              <a:t>Over 3,000 live data products from 500+ providers — financial data (Refinitiv, S&amp;P), weather (Tomorrow.io), geospatial (HERE, SafeGraph), identity (LiveRamp), health, ESG signals, and more. Crucially, these are live datasets, not downloaded exports — when the provider updates their data, consumers see it immediately. </a:t>
            </a:r>
            <a:endParaRPr lang="en-US" altLang="en-US"/>
          </a:p>
          <a:p>
            <a:pPr marL="285750" indent="-285750">
              <a:buFont typeface="Arial" panose="020B0604020202020204" pitchFamily="34" charset="0"/>
              <a:buChar char="•"/>
            </a:pPr>
            <a:r>
              <a:rPr lang="en-US" altLang="en-US"/>
              <a:t>Native Apps on the Marketplace work differently: the ISV's code runs inside your account against your data, so the provider never sees your records.</a:t>
            </a:r>
            <a:endParaRPr lang="en-US" altLang="en-US"/>
          </a:p>
          <a:p>
            <a:r>
              <a:rPr lang="zh-CN" altLang="en-US"/>
              <a:t></a:t>
            </a:r>
            <a:endParaRPr lang="zh-CN" altLang="en-US"/>
          </a:p>
          <a:p>
            <a:endParaRPr lang="en-US"/>
          </a:p>
        </p:txBody>
      </p:sp>
      <p:sp>
        <p:nvSpPr>
          <p:cNvPr id="7" name="Slide Number Placeholder 6"/>
          <p:cNvSpPr>
            <a:spLocks noGrp="1"/>
          </p:cNvSpPr>
          <p:nvPr>
            <p:ph type="sldNum" sz="quarter" idx="12"/>
          </p:nvPr>
        </p:nvSpPr>
        <p:spPr/>
        <p:txBody>
          <a:bodyPr/>
          <a:p>
            <a:fld id="{49AE70B2-8BF9-45C0-BB95-33D1B9D3A854}" type="slidenum">
              <a:rPr lang="en-US" smtClean="0"/>
            </a:fld>
            <a:endParaRPr lang="en-US"/>
          </a:p>
        </p:txBody>
      </p:sp>
      <p:pic>
        <p:nvPicPr>
          <p:cNvPr id="8" name="Content Placeholder 7"/>
          <p:cNvPicPr>
            <a:picLocks noChangeAspect="1"/>
          </p:cNvPicPr>
          <p:nvPr>
            <p:ph idx="1"/>
            <p:custDataLst>
              <p:tags r:id="rId2"/>
            </p:custDataLst>
          </p:nvPr>
        </p:nvPicPr>
        <p:blipFill>
          <a:blip r:embed="rId3"/>
          <a:srcRect t="10715" b="10715"/>
          <a:stretch>
            <a:fillRect/>
          </a:stretch>
        </p:blipFill>
        <p:spPr>
          <a:xfrm>
            <a:off x="9044940" y="5701665"/>
            <a:ext cx="1856740" cy="805180"/>
          </a:xfrm>
        </p:spPr>
      </p:pic>
    </p:spTree>
    <p:custDataLst>
      <p:tags r:id="rId4"/>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 Collaboration &amp; Marketplace</a:t>
            </a:r>
            <a:endParaRPr lang="en-US" altLang="en-US">
              <a:solidFill>
                <a:schemeClr val="accent1">
                  <a:lumMod val="75000"/>
                </a:schemeClr>
              </a:solidFill>
            </a:endParaRPr>
          </a:p>
        </p:txBody>
      </p:sp>
      <p:sp>
        <p:nvSpPr>
          <p:cNvPr id="5" name="Text Box 4"/>
          <p:cNvSpPr txBox="1"/>
          <p:nvPr/>
        </p:nvSpPr>
        <p:spPr>
          <a:xfrm>
            <a:off x="823595" y="1728470"/>
            <a:ext cx="10203815" cy="2861310"/>
          </a:xfrm>
          <a:prstGeom prst="rect">
            <a:avLst/>
          </a:prstGeom>
          <a:noFill/>
        </p:spPr>
        <p:txBody>
          <a:bodyPr wrap="square" rtlCol="0">
            <a:spAutoFit/>
          </a:bodyPr>
          <a:p>
            <a:r>
              <a:rPr lang="en-US" altLang="en-US">
                <a:solidFill>
                  <a:schemeClr val="accent1">
                    <a:lumMod val="75000"/>
                  </a:schemeClr>
                </a:solidFill>
              </a:rPr>
              <a:t>Data Clean Rooms</a:t>
            </a:r>
            <a:r>
              <a:rPr lang="en-US" altLang="en-US"/>
              <a:t> are the privacy-preserving layer for sensitive multi-party collaboration —</a:t>
            </a:r>
            <a:endParaRPr lang="en-US" altLang="en-US"/>
          </a:p>
          <a:p>
            <a:pPr marL="285750" indent="-285750">
              <a:buFont typeface="Arial" panose="020B0604020202020204" pitchFamily="34" charset="0"/>
              <a:buChar char="•"/>
            </a:pPr>
            <a:r>
              <a:rPr lang="en-US" altLang="en-US"/>
              <a:t>The headline use case is ad-tech audience overlap (a retailer and a media company want to know how much their customer bases overlap without sharing raw customer lists). </a:t>
            </a:r>
            <a:endParaRPr lang="en-US" altLang="en-US"/>
          </a:p>
          <a:p>
            <a:pPr marL="285750" indent="-285750">
              <a:buFont typeface="Arial" panose="020B0604020202020204" pitchFamily="34" charset="0"/>
              <a:buChar char="•"/>
            </a:pPr>
            <a:r>
              <a:rPr lang="en-US" altLang="en-US"/>
              <a:t>Each party brings data to a shared environment, but the provider pre-defines the only SQL query templates that are allowed to run. </a:t>
            </a:r>
            <a:endParaRPr lang="en-US" altLang="en-US"/>
          </a:p>
          <a:p>
            <a:pPr marL="285750" indent="-285750">
              <a:buFont typeface="Arial" panose="020B0604020202020204" pitchFamily="34" charset="0"/>
              <a:buChar char="•"/>
            </a:pPr>
            <a:r>
              <a:rPr lang="en-US" altLang="en-US"/>
              <a:t>Results are returned with differential privacy or k-anonymity thresholds enforced, so neither party can reverse-engineer the other's raw records from the output.</a:t>
            </a:r>
            <a:endParaRPr lang="en-US" altLang="en-US"/>
          </a:p>
          <a:p>
            <a:endParaRPr lang="en-US" altLang="en-US"/>
          </a:p>
          <a:p>
            <a:r>
              <a:rPr lang="zh-CN" altLang="en-US"/>
              <a:t></a:t>
            </a:r>
            <a:endParaRPr lang="zh-CN" altLang="en-US"/>
          </a:p>
          <a:p>
            <a:endParaRPr lang="en-US"/>
          </a:p>
        </p:txBody>
      </p:sp>
      <p:sp>
        <p:nvSpPr>
          <p:cNvPr id="2" name="Slide Number Placeholder 1"/>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2"/>
            </p:custDataLst>
          </p:nvPr>
        </p:nvPicPr>
        <p:blipFill>
          <a:blip r:embed="rId3"/>
          <a:srcRect t="10715" b="10715"/>
          <a:stretch>
            <a:fillRect/>
          </a:stretch>
        </p:blipFill>
        <p:spPr>
          <a:xfrm>
            <a:off x="9044940" y="5701665"/>
            <a:ext cx="1856740" cy="805180"/>
          </a:xfrm>
        </p:spPr>
      </p:pic>
    </p:spTree>
    <p:custDataLst>
      <p:tags r:id="rId4"/>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solidFill>
                  <a:schemeClr val="accent1">
                    <a:lumMod val="75000"/>
                  </a:schemeClr>
                </a:solidFill>
              </a:rPr>
              <a:t> Collaboration &amp; Marketplace</a:t>
            </a:r>
            <a:endParaRPr lang="en-US" altLang="en-US">
              <a:solidFill>
                <a:schemeClr val="accent1">
                  <a:lumMod val="75000"/>
                </a:schemeClr>
              </a:solidFill>
            </a:endParaRPr>
          </a:p>
        </p:txBody>
      </p:sp>
      <p:sp>
        <p:nvSpPr>
          <p:cNvPr id="5" name="Text Box 4"/>
          <p:cNvSpPr txBox="1"/>
          <p:nvPr/>
        </p:nvSpPr>
        <p:spPr>
          <a:xfrm>
            <a:off x="823595" y="1728470"/>
            <a:ext cx="10203815" cy="2584450"/>
          </a:xfrm>
          <a:prstGeom prst="rect">
            <a:avLst/>
          </a:prstGeom>
          <a:noFill/>
        </p:spPr>
        <p:txBody>
          <a:bodyPr wrap="square" rtlCol="0">
            <a:spAutoFit/>
          </a:bodyPr>
          <a:p>
            <a:r>
              <a:rPr lang="en-US" altLang="en-US">
                <a:solidFill>
                  <a:schemeClr val="accent1">
                    <a:lumMod val="75000"/>
                  </a:schemeClr>
                </a:solidFill>
              </a:rPr>
              <a:t>Collaboration</a:t>
            </a:r>
            <a:r>
              <a:rPr lang="en-US" altLang="en-US"/>
              <a:t> primitives round out the toolkit: </a:t>
            </a:r>
            <a:endParaRPr lang="en-US" altLang="en-US"/>
          </a:p>
          <a:p>
            <a:pPr marL="285750" indent="-285750">
              <a:buFont typeface="Arial" panose="020B0604020202020204" pitchFamily="34" charset="0"/>
              <a:buChar char="•"/>
            </a:pPr>
            <a:r>
              <a:rPr lang="en-US" altLang="en-US"/>
              <a:t>Reader Accounts let you share with organizations that don't have Snowflake — Snowflake provisions a managed account on their behalf. Private listings are targeted B2B data products delivered to specific named accounts. </a:t>
            </a:r>
            <a:endParaRPr lang="en-US" altLang="en-US"/>
          </a:p>
          <a:p>
            <a:pPr marL="285750" indent="-285750">
              <a:buFont typeface="Arial" panose="020B0604020202020204" pitchFamily="34" charset="0"/>
              <a:buChar char="•"/>
            </a:pPr>
            <a:r>
              <a:rPr lang="en-US" altLang="en-US"/>
              <a:t>Cross-cloud sharing works across AWS, Azure, and GCP without the consumer knowing or caring which cloud the provider is on.</a:t>
            </a:r>
            <a:endParaRPr lang="en-US" altLang="en-US"/>
          </a:p>
          <a:p>
            <a:pPr marL="285750" indent="-285750">
              <a:buFont typeface="Arial" panose="020B0604020202020204" pitchFamily="34" charset="0"/>
              <a:buChar char="•"/>
            </a:pPr>
            <a:r>
              <a:rPr lang="en-US" altLang="en-US"/>
              <a:t> And Snowsight includes request/approval workflows so data access can be governed through a UI rather than just SQL DDL.</a:t>
            </a:r>
            <a:r>
              <a:rPr lang="zh-CN" altLang="en-US"/>
              <a:t></a:t>
            </a:r>
            <a:endParaRPr lang="zh-CN" altLang="en-US"/>
          </a:p>
          <a:p>
            <a:endParaRPr lang="en-US"/>
          </a:p>
        </p:txBody>
      </p:sp>
      <p:sp>
        <p:nvSpPr>
          <p:cNvPr id="2" name="Slide Number Placeholder 1"/>
          <p:cNvSpPr>
            <a:spLocks noGrp="1"/>
          </p:cNvSpPr>
          <p:nvPr>
            <p:ph type="sldNum" sz="quarter" idx="12"/>
          </p:nvPr>
        </p:nvSpPr>
        <p:spPr/>
        <p:txBody>
          <a:bodyPr/>
          <a:p>
            <a:fld id="{49AE70B2-8BF9-45C0-BB95-33D1B9D3A854}" type="slidenum">
              <a:rPr lang="en-US" smtClean="0"/>
            </a:fld>
            <a:endParaRPr lang="en-US"/>
          </a:p>
        </p:txBody>
      </p:sp>
      <p:pic>
        <p:nvPicPr>
          <p:cNvPr id="7" name="Content Placeholder 6"/>
          <p:cNvPicPr>
            <a:picLocks noChangeAspect="1"/>
          </p:cNvPicPr>
          <p:nvPr>
            <p:ph idx="1"/>
            <p:custDataLst>
              <p:tags r:id="rId2"/>
            </p:custDataLst>
          </p:nvPr>
        </p:nvPicPr>
        <p:blipFill>
          <a:blip r:embed="rId3"/>
          <a:srcRect t="10715" b="10715"/>
          <a:stretch>
            <a:fillRect/>
          </a:stretch>
        </p:blipFill>
        <p:spPr>
          <a:xfrm>
            <a:off x="9044940" y="5701665"/>
            <a:ext cx="1856740" cy="805180"/>
          </a:xfrm>
        </p:spPr>
      </p:pic>
    </p:spTree>
    <p:custDataLst>
      <p:tags r:id="rId4"/>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25.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126.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12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0.xml><?xml version="1.0" encoding="utf-8"?>
<p:tagLst xmlns:p="http://schemas.openxmlformats.org/presentationml/2006/main">
  <p:tag name="KSO_WM_BEAUTIFY_FLAG" val="#wm#"/>
  <p:tag name="KSO_WM_TEMPLATE_CATEGORY" val="custom"/>
  <p:tag name="KSO_WM_TEMPLATE_INDEX" val="2020508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3.xml><?xml version="1.0" encoding="utf-8"?>
<p:tagLst xmlns:p="http://schemas.openxmlformats.org/presentationml/2006/main">
  <p:tag name="KSO_WM_BEAUTIFY_FLAG" val="#wm#"/>
  <p:tag name="KSO_WM_TEMPLATE_CATEGORY" val="custom"/>
  <p:tag name="KSO_WM_TEMPLATE_INDEX" val="2020508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6.xml><?xml version="1.0" encoding="utf-8"?>
<p:tagLst xmlns:p="http://schemas.openxmlformats.org/presentationml/2006/main">
  <p:tag name="KSO_WM_BEAUTIFY_FLAG" val="#wm#"/>
  <p:tag name="KSO_WM_TEMPLATE_CATEGORY" val="custom"/>
  <p:tag name="KSO_WM_TEMPLATE_INDEX" val="2020508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9.xml><?xml version="1.0" encoding="utf-8"?>
<p:tagLst xmlns:p="http://schemas.openxmlformats.org/presentationml/2006/main">
  <p:tag name="KSO_WM_BEAUTIFY_FLAG" val="#wm#"/>
  <p:tag name="KSO_WM_TEMPLATE_CATEGORY" val="custom"/>
  <p:tag name="KSO_WM_TEMPLATE_INDEX" val="2020508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2.xml><?xml version="1.0" encoding="utf-8"?>
<p:tagLst xmlns:p="http://schemas.openxmlformats.org/presentationml/2006/main">
  <p:tag name="KSO_WM_BEAUTIFY_FLAG" val="#wm#"/>
  <p:tag name="KSO_WM_TEMPLATE_CATEGORY" val="custom"/>
  <p:tag name="KSO_WM_TEMPLATE_INDEX" val="20205081"/>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5.xml><?xml version="1.0" encoding="utf-8"?>
<p:tagLst xmlns:p="http://schemas.openxmlformats.org/presentationml/2006/main">
  <p:tag name="KSO_WM_BEAUTIFY_FLAG" val="#wm#"/>
  <p:tag name="KSO_WM_TEMPLATE_CATEGORY" val="custom"/>
  <p:tag name="KSO_WM_TEMPLATE_INDEX" val="2020508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8.xml><?xml version="1.0" encoding="utf-8"?>
<p:tagLst xmlns:p="http://schemas.openxmlformats.org/presentationml/2006/main">
  <p:tag name="KSO_WM_BEAUTIFY_FLAG" val="#wm#"/>
  <p:tag name="KSO_WM_TEMPLATE_CATEGORY" val="custom"/>
  <p:tag name="KSO_WM_TEMPLATE_INDEX" val="20205081"/>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1.xml><?xml version="1.0" encoding="utf-8"?>
<p:tagLst xmlns:p="http://schemas.openxmlformats.org/presentationml/2006/main">
  <p:tag name="KSO_WM_BEAUTIFY_FLAG" val="#wm#"/>
  <p:tag name="KSO_WM_TEMPLATE_CATEGORY" val="custom"/>
  <p:tag name="KSO_WM_TEMPLATE_INDEX" val="20205081"/>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4.xml><?xml version="1.0" encoding="utf-8"?>
<p:tagLst xmlns:p="http://schemas.openxmlformats.org/presentationml/2006/main">
  <p:tag name="KSO_WM_BEAUTIFY_FLAG" val="#wm#"/>
  <p:tag name="KSO_WM_TEMPLATE_CATEGORY" val="custom"/>
  <p:tag name="KSO_WM_TEMPLATE_INDEX" val="20205081"/>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7.xml><?xml version="1.0" encoding="utf-8"?>
<p:tagLst xmlns:p="http://schemas.openxmlformats.org/presentationml/2006/main">
  <p:tag name="KSO_WM_BEAUTIFY_FLAG" val="#wm#"/>
  <p:tag name="KSO_WM_TEMPLATE_CATEGORY" val="custom"/>
  <p:tag name="KSO_WM_TEMPLATE_INDEX" val="20205081"/>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0.xml><?xml version="1.0" encoding="utf-8"?>
<p:tagLst xmlns:p="http://schemas.openxmlformats.org/presentationml/2006/main">
  <p:tag name="KSO_WM_BEAUTIFY_FLAG" val="#wm#"/>
  <p:tag name="KSO_WM_TEMPLATE_CATEGORY" val="custom"/>
  <p:tag name="KSO_WM_TEMPLATE_INDEX" val="2020508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3.xml><?xml version="1.0" encoding="utf-8"?>
<p:tagLst xmlns:p="http://schemas.openxmlformats.org/presentationml/2006/main">
  <p:tag name="KSO_WM_BEAUTIFY_FLAG" val="#wm#"/>
  <p:tag name="KSO_WM_TEMPLATE_CATEGORY" val="custom"/>
  <p:tag name="KSO_WM_TEMPLATE_INDEX" val="2020508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6.xml><?xml version="1.0" encoding="utf-8"?>
<p:tagLst xmlns:p="http://schemas.openxmlformats.org/presentationml/2006/main">
  <p:tag name="KSO_WM_BEAUTIFY_FLAG" val="#wm#"/>
  <p:tag name="KSO_WM_TEMPLATE_CATEGORY" val="custom"/>
  <p:tag name="KSO_WM_TEMPLATE_INDEX" val="2020508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9.xml><?xml version="1.0" encoding="utf-8"?>
<p:tagLst xmlns:p="http://schemas.openxmlformats.org/presentationml/2006/main">
  <p:tag name="KSO_WM_BEAUTIFY_FLAG" val="#wm#"/>
  <p:tag name="KSO_WM_TEMPLATE_CATEGORY" val="custom"/>
  <p:tag name="KSO_WM_TEMPLATE_INDEX" val="2020508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2.xml><?xml version="1.0" encoding="utf-8"?>
<p:tagLst xmlns:p="http://schemas.openxmlformats.org/presentationml/2006/main">
  <p:tag name="KSO_WM_BEAUTIFY_FLAG" val="#wm#"/>
  <p:tag name="KSO_WM_TEMPLATE_CATEGORY" val="custom"/>
  <p:tag name="KSO_WM_TEMPLATE_INDEX" val="2020508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5.xml><?xml version="1.0" encoding="utf-8"?>
<p:tagLst xmlns:p="http://schemas.openxmlformats.org/presentationml/2006/main">
  <p:tag name="KSO_WM_BEAUTIFY_FLAG" val="#wm#"/>
  <p:tag name="KSO_WM_TEMPLATE_CATEGORY" val="custom"/>
  <p:tag name="KSO_WM_TEMPLATE_INDEX" val="2020508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9.xml><?xml version="1.0" encoding="utf-8"?>
<p:tagLst xmlns:p="http://schemas.openxmlformats.org/presentationml/2006/main">
  <p:tag name="KSO_WM_BEAUTIFY_FLAG" val="#wm#"/>
  <p:tag name="KSO_WM_TEMPLATE_CATEGORY" val="custom"/>
  <p:tag name="KSO_WM_TEMPLATE_INDEX" val="2020508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2.xml><?xml version="1.0" encoding="utf-8"?>
<p:tagLst xmlns:p="http://schemas.openxmlformats.org/presentationml/2006/main">
  <p:tag name="KSO_WM_BEAUTIFY_FLAG" val="#wm#"/>
  <p:tag name="KSO_WM_TEMPLATE_CATEGORY" val="custom"/>
  <p:tag name="KSO_WM_TEMPLATE_INDEX" val="20205081"/>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5.xml><?xml version="1.0" encoding="utf-8"?>
<p:tagLst xmlns:p="http://schemas.openxmlformats.org/presentationml/2006/main">
  <p:tag name="KSO_WM_BEAUTIFY_FLAG" val="#wm#"/>
  <p:tag name="KSO_WM_TEMPLATE_CATEGORY" val="custom"/>
  <p:tag name="KSO_WM_TEMPLATE_INDEX" val="2020508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8.xml><?xml version="1.0" encoding="utf-8"?>
<p:tagLst xmlns:p="http://schemas.openxmlformats.org/presentationml/2006/main">
  <p:tag name="KSO_WM_BEAUTIFY_FLAG" val="#wm#"/>
  <p:tag name="KSO_WM_TEMPLATE_CATEGORY" val="custom"/>
  <p:tag name="KSO_WM_TEMPLATE_INDEX" val="2020508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1.xml><?xml version="1.0" encoding="utf-8"?>
<p:tagLst xmlns:p="http://schemas.openxmlformats.org/presentationml/2006/main">
  <p:tag name="KSO_WM_BEAUTIFY_FLAG" val="#wm#"/>
  <p:tag name="KSO_WM_TEMPLATE_CATEGORY" val="custom"/>
  <p:tag name="KSO_WM_TEMPLATE_INDEX" val="20205081"/>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5.xml><?xml version="1.0" encoding="utf-8"?>
<p:tagLst xmlns:p="http://schemas.openxmlformats.org/presentationml/2006/main">
  <p:tag name="KSO_WM_BEAUTIFY_FLAG" val="#wm#"/>
  <p:tag name="KSO_WM_TEMPLATE_CATEGORY" val="custom"/>
  <p:tag name="KSO_WM_TEMPLATE_INDEX" val="20205081"/>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8.xml><?xml version="1.0" encoding="utf-8"?>
<p:tagLst xmlns:p="http://schemas.openxmlformats.org/presentationml/2006/main">
  <p:tag name="KSO_WM_BEAUTIFY_FLAG" val="#wm#"/>
  <p:tag name="KSO_WM_TEMPLATE_CATEGORY" val="custom"/>
  <p:tag name="KSO_WM_TEMPLATE_INDEX" val="20205081"/>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1.xml><?xml version="1.0" encoding="utf-8"?>
<p:tagLst xmlns:p="http://schemas.openxmlformats.org/presentationml/2006/main">
  <p:tag name="KSO_WM_BEAUTIFY_FLAG" val="#wm#"/>
  <p:tag name="KSO_WM_TEMPLATE_CATEGORY" val="custom"/>
  <p:tag name="KSO_WM_TEMPLATE_INDEX" val="20205081"/>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4.xml><?xml version="1.0" encoding="utf-8"?>
<p:tagLst xmlns:p="http://schemas.openxmlformats.org/presentationml/2006/main">
  <p:tag name="KSO_WM_BEAUTIFY_FLAG" val="#wm#"/>
  <p:tag name="KSO_WM_TEMPLATE_CATEGORY" val="custom"/>
  <p:tag name="KSO_WM_TEMPLATE_INDEX" val="20205081"/>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7.xml><?xml version="1.0" encoding="utf-8"?>
<p:tagLst xmlns:p="http://schemas.openxmlformats.org/presentationml/2006/main">
  <p:tag name="KSO_WM_BEAUTIFY_FLAG" val="#wm#"/>
  <p:tag name="KSO_WM_TEMPLATE_CATEGORY" val="custom"/>
  <p:tag name="KSO_WM_TEMPLATE_INDEX" val="20205081"/>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1.xml><?xml version="1.0" encoding="utf-8"?>
<p:tagLst xmlns:p="http://schemas.openxmlformats.org/presentationml/2006/main">
  <p:tag name="KSO_WM_BEAUTIFY_FLAG" val="#wm#"/>
  <p:tag name="KSO_WM_TEMPLATE_CATEGORY" val="custom"/>
  <p:tag name="KSO_WM_TEMPLATE_INDEX" val="20205081"/>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4.xml><?xml version="1.0" encoding="utf-8"?>
<p:tagLst xmlns:p="http://schemas.openxmlformats.org/presentationml/2006/main">
  <p:tag name="KSO_WM_BEAUTIFY_FLAG" val="#wm#"/>
  <p:tag name="KSO_WM_TEMPLATE_CATEGORY" val="custom"/>
  <p:tag name="KSO_WM_TEMPLATE_INDEX" val="20205081"/>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7.xml><?xml version="1.0" encoding="utf-8"?>
<p:tagLst xmlns:p="http://schemas.openxmlformats.org/presentationml/2006/main">
  <p:tag name="KSO_WM_BEAUTIFY_FLAG" val="#wm#"/>
  <p:tag name="KSO_WM_TEMPLATE_CATEGORY" val="custom"/>
  <p:tag name="KSO_WM_TEMPLATE_INDEX" val="20205081"/>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0.xml><?xml version="1.0" encoding="utf-8"?>
<p:tagLst xmlns:p="http://schemas.openxmlformats.org/presentationml/2006/main">
  <p:tag name="KSO_WM_BEAUTIFY_FLAG" val="#wm#"/>
  <p:tag name="KSO_WM_TEMPLATE_CATEGORY" val="custom"/>
  <p:tag name="KSO_WM_TEMPLATE_INDEX" val="20205081"/>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3.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15993</Words>
  <Application>WPS Presentation</Application>
  <PresentationFormat>Widescreen</PresentationFormat>
  <Paragraphs>352</Paragraphs>
  <Slides>32</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32</vt:i4>
      </vt:variant>
    </vt:vector>
  </HeadingPairs>
  <TitlesOfParts>
    <vt:vector size="42" baseType="lpstr">
      <vt:lpstr>Arial</vt:lpstr>
      <vt:lpstr>SimSun</vt:lpstr>
      <vt:lpstr>Wingdings</vt:lpstr>
      <vt:lpstr>Wingdings</vt:lpstr>
      <vt:lpstr>Microsoft YaHei</vt:lpstr>
      <vt:lpstr>Arial Unicode MS</vt:lpstr>
      <vt:lpstr>Calibri</vt:lpstr>
      <vt:lpstr>等线</vt:lpstr>
      <vt:lpstr>WPS</vt:lpstr>
      <vt:lpstr>1_WPS</vt:lpstr>
      <vt:lpstr>PowerPoint 演示文稿</vt:lpstr>
      <vt:lpstr>PowerPoint 演示文稿</vt:lpstr>
      <vt:lpstr>Core Architectural Innovations</vt:lpstr>
      <vt:lpstr>Core Architectural Innovations</vt:lpstr>
      <vt:lpstr>Core Architectural Innovations</vt:lpstr>
      <vt:lpstr>Core Architectural Innovations</vt:lpstr>
      <vt:lpstr>Core Architectural Innovations</vt:lpstr>
      <vt:lpstr>Core Architectural Innovations</vt:lpstr>
      <vt:lpstr>Core Architectural Innovations</vt:lpstr>
      <vt:lpstr>Core Architectural Innovations</vt:lpstr>
      <vt:lpstr>AI &amp; Cortex Innovations</vt:lpstr>
      <vt:lpstr>AI &amp; Cortex Innovations</vt:lpstr>
      <vt:lpstr>AI &amp; Cortex Innovations</vt:lpstr>
      <vt:lpstr>Streaming &amp; Real-Time Features</vt:lpstr>
      <vt:lpstr>Streaming &amp; Real-Time Features</vt:lpstr>
      <vt:lpstr>Security &amp; Governance</vt:lpstr>
      <vt:lpstr>Open Lakehouse &amp; Apache Iceberg Support</vt:lpstr>
      <vt:lpstr>Open Lakehouse &amp; Apache Iceberg Support</vt:lpstr>
      <vt:lpstr>Open Lakehouse &amp; Apache Iceberg Support</vt:lpstr>
      <vt:lpstr>Container &amp; App Development Features</vt:lpstr>
      <vt:lpstr>Container &amp; App Development Features</vt:lpstr>
      <vt:lpstr>Container &amp; App Development Features</vt:lpstr>
      <vt:lpstr>Container &amp; App Development Features</vt:lpstr>
      <vt:lpstr>Container &amp; App Development Features</vt:lpstr>
      <vt:lpstr>Advanced Analytics &amp; ML</vt:lpstr>
      <vt:lpstr>Advanced Analytics &amp; ML</vt:lpstr>
      <vt:lpstr>Advanced Analytics &amp; ML</vt:lpstr>
      <vt:lpstr>Advanced Analytics &amp; ML</vt:lpstr>
      <vt:lpstr> Collaboration &amp; Marketplace</vt:lpstr>
      <vt:lpstr>Advanced Analytics &amp; ML</vt:lpstr>
      <vt:lpstr> Collaboration &amp; Marketplace</vt:lpstr>
      <vt:lpstr> Collaboration &amp; Marketplace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Snowflake</dc:title>
  <dc:creator>Krishna</dc:creator>
  <cp:lastModifiedBy>archana jas</cp:lastModifiedBy>
  <cp:revision>12</cp:revision>
  <dcterms:created xsi:type="dcterms:W3CDTF">2026-06-29T06:16:51Z</dcterms:created>
  <dcterms:modified xsi:type="dcterms:W3CDTF">2026-06-29T07:21:19Z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065187BFF4024E54B9D11F71FE3B701E_11</vt:lpwstr>
  </property>
</Properties>
</file>